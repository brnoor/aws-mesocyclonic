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0E1A2C"/>
                </a:solidFill>
                <a:latin typeface="Calibri"/>
              </a:rPr>
              <a:t>Tornados y trombas detectados (≤ 50 km, ± 6 h)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Vórtice (motor de referencia)</c:v>
                </c:pt>
              </c:strCache>
            </c:strRef>
          </c:tx>
          <c:spPr>
            <a:solidFill>
              <a:srgbClr val="376284"/>
            </a:solidFill>
          </c:spPr>
          <c:cat>
            <c:strRef>
              <c:f>Sheet1!$A$2:$A$4</c:f>
              <c:strCache>
                <c:ptCount val="3"/>
                <c:pt idx="0">
                  <c:v>2021–2023 (18 eventos)</c:v>
                </c:pt>
                <c:pt idx="1">
                  <c:v>2024–2025 nunca vistos (7)</c:v>
                </c:pt>
                <c:pt idx="2">
                  <c:v>Todos (25)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0.83</c:v>
                </c:pt>
                <c:pt idx="1">
                  <c:v>0.71</c:v>
                </c:pt>
                <c:pt idx="2">
                  <c:v>0.8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Regla física (sin CAPE)</c:v>
                </c:pt>
              </c:strCache>
            </c:strRef>
          </c:tx>
          <c:spPr>
            <a:solidFill>
              <a:srgbClr val="B07800"/>
            </a:solidFill>
          </c:spPr>
          <c:cat>
            <c:strRef>
              <c:f>Sheet1!$A$2:$A$4</c:f>
              <c:strCache>
                <c:ptCount val="3"/>
                <c:pt idx="0">
                  <c:v>2021–2023 (18 eventos)</c:v>
                </c:pt>
                <c:pt idx="1">
                  <c:v>2024–2025 nunca vistos (7)</c:v>
                </c:pt>
                <c:pt idx="2">
                  <c:v>Todos (25)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0.28</c:v>
                </c:pt>
                <c:pt idx="1">
                  <c:v>0.43</c:v>
                </c:pt>
                <c:pt idx="2">
                  <c:v>0.32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300" b="1">
                  <a:solidFill>
                    <a:srgbClr val="0E1A2C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DD4D6"/>
            </a:solidFill>
          </a:ln>
        </c:spPr>
        <c:txPr>
          <a:bodyPr/>
          <a:lstStyle/>
          <a:p>
            <a:pPr>
              <a:defRPr sz="1200">
                <a:solidFill>
                  <a:srgbClr val="46546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DCE6E8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465463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465463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[0:00–0:15] Esto es Los Ángeles, en el Biobío, el 30 de mayo de 2019: un tornado EF2 que cruzó la ciudad. Somos Vórtice, y venimos a encontrar las tormentas que nadie vio.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[0:15–0:50] En Chile hay tornados. El catálogo del CR2 tiene 102 tornados y trombas, y 68 son de los últimos diez años: no es que haya más, es que ahora hay celulares. El problema es que Chile no tiene una red de radares: un tornado solo existe si alguien lo graba. En mayo de 2019 hubo siete tornados en menos de un día, uno mató a una persona en Los Ángeles, y nadie avisó. Y si aplicamos el índice que usa Estados Unidos, el STP, no marca ninguno de esos siete.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[0:50–1:15] ¿Por qué no basta con copiar lo de afuera? Por tres razones. Uno, estamos en el hemisferio sur: la rotación va al revés y los índices salen con el signo cambiado. Dos, en Chile los tornados nacen con mucho viento y poca inestabilidad, y ahí los umbrales gringos no disparan. Y tres, el catálogo solo tiene positivos: que no haya reporte no significa que no hubo tornado.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[1:15–1:45] Nuestra metodología usa solo datos abiertos que ya están en AWS: el reanálisis ERA5 y el satélite GOES. Recortamos el centro-sur en celdas de 25 kilómetros, hora a hora, y calculamos once índices físicos con los signos y umbrales del hemisferio sur. Encima va un modelo de aprendizaje PU, que aprende de los positivos sin asumir que lo no reportado es negativo. La salida es un puntaje de 0 a 100 por celda y hora. Y medimos como pide el CR2: por evento, con años que el modelo no vio.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[1:45–2:10] El motor nuevo de Vórtice es una red neuronal pequeña: once índices de entrada, dos capas ocultas y un puntaje. Son menos de tres mil parámetros, 15 kilobytes. Se entrena con una pérdida PU no negativa, pensada para eventos rarísimos: menos del 0,3 % de las celdas-hora. Y como es tan chica, la servimos con numpy, sin GPU. Este checkpoint todavía es de prueba: antes de ponerlo en producción tiene que pasar el mismo examen que el motor actual. (Dato interno, no decir salvo que pregunten: entrenado con 2018-03-22 y 2019-05-30; dentro de muestra ordena las celdas positivas por debajo del resto, AUC ≈ 0,30. Hay que reentrenar.)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[2:10–2:45] ¿Funciona? Lo probamos donde importa: sobre el pronóstico de inteligencia artificial Pangu-Weather, con 25 tornados y trombas, y cada evento puntuado por un modelo que no vio su año. Con la misma área marcada, Vórtice detecta el 80 % y la regla física el 32 %. En los siete casos de 2024 y 2025, que nunca vio, detecta cinco: cumple la meta del CR2 de 70 %. Las falsas alarmas todavía están sobre la meta, y somos honestos: son pocos casos y los intervalos son anchos.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[2:45–3:10] La solución vive entera en AWS. Los datos ya están en S3 como datos abiertos. Una máquina Graviton calcula los índices, y una API sirve los puntajes a la consola web, detrás de CloudFront. Esa API es un contrato: hoy responde con el modelo cargado en la misma máquina y mañana con un endpoint de SageMaker, cambiando dos variables, sin tocar la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[3:10–3:40] ¿Cuánto cuesta? Muy poco. Como los datos son abiertos, pagamos solo cómputo: un servidor pequeño para la web y la API, y una máquina grande que se enciende una hora al día para calcular los índices. Son unos 54 dólares al mes en temporada de tormentas y unos 16 el resto del año: cerca de 420 dólares al año. Un solo radar meteorológico cuesta millones.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[3:40–4:40] DEMO Vamos a la web. Esta es la consola de Vórtice. Elijo el 26 de junio de 2023, un día que este motor no vio. Muevo la hora desde las 16 UTC. A la izquierda, el puntaje de Vórtice; a la derecha, la regla física. A las 20 UTC Vórtice marca una franja oscura justo sobre el lago Llanquihue, donde se reportó una tromba a las 19:35 y un tornado en Futrono. La regla STP no dispara. Toco la celda: aquí está por qué, la cizalle, la helicidad y la base de la nube. Un meteorólogo lo revisa en segundos. Y todo esto sale de una API documentada que cualquier sistema puede consumir. (Plan B si no hay internet: esta diapositiva ya trae los mapas. Evitar el 30-05-2019 en vivo: con este checkpoint el puntaje no se enciende junto a esos tornados y además fue día de entrenamiento.)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[4:40–5:00] Vórtice ya está en línea con su consola y su API. Para 2026 proponemos un piloto con el CR2: validar el motor nuevo con 2024 y 2025, correr el puntaje cada día de la temporada y revisar en terreno los días que marque sin reporte. Encontremos juntos las tormentas que nadie vio.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to tornado Los Ángeles 2019" descr="tornado.jpg"/>
          <p:cNvPicPr>
            <a:picLocks noChangeAspect="1"/>
          </p:cNvPicPr>
          <p:nvPr/>
        </p:nvPicPr>
        <p:blipFill>
          <a:blip r:embed="rId2"/>
          <a:srcRect l="16471" r="16471"/>
          <a:stretch>
            <a:fillRect/>
          </a:stretch>
        </p:blipFill>
        <p:spPr>
          <a:xfrm>
            <a:off x="5669280" y="0"/>
            <a:ext cx="6522415" cy="6858000"/>
          </a:xfrm>
          <a:prstGeom prst="rect">
            <a:avLst/>
          </a:prstGeom>
        </p:spPr>
      </p:pic>
      <p:sp>
        <p:nvSpPr>
          <p:cNvPr id="3" name="Velo"/>
          <p:cNvSpPr/>
          <p:nvPr/>
        </p:nvSpPr>
        <p:spPr>
          <a:xfrm>
            <a:off x="5669280" y="0"/>
            <a:ext cx="6522415" cy="6858000"/>
          </a:xfrm>
          <a:prstGeom prst="rect">
            <a:avLst/>
          </a:prstGeom>
          <a:solidFill>
            <a:srgbClr val="0E1A2C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8DADC"/>
                </a:solidFill>
                <a:latin typeface="Calibri"/>
              </a:rPr>
              <a:t>BREAKING BARRIERS CHILE 2026 · DESAFÍO CR2</a:t>
            </a:r>
          </a:p>
        </p:txBody>
      </p:sp>
      <p:sp>
        <p:nvSpPr>
          <p:cNvPr id="5" name="Marcador tornado"/>
          <p:cNvSpPr/>
          <p:nvPr/>
        </p:nvSpPr>
        <p:spPr>
          <a:xfrm>
            <a:off x="658368" y="1600200"/>
            <a:ext cx="457200" cy="393192"/>
          </a:xfrm>
          <a:prstGeom prst="triangle">
            <a:avLst/>
          </a:prstGeom>
          <a:solidFill>
            <a:srgbClr val="E63946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ítulo"/>
          <p:cNvSpPr txBox="1"/>
          <p:nvPr/>
        </p:nvSpPr>
        <p:spPr>
          <a:xfrm>
            <a:off x="640080" y="219456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1FAEE"/>
                </a:solidFill>
                <a:latin typeface="Arial"/>
              </a:rPr>
              <a:t>Vórtice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DCEBEA"/>
                </a:solidFill>
                <a:latin typeface="Arial"/>
              </a:rPr>
              <a:t>Encontrar las tormentas que nadie vio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C9D6DA"/>
                </a:solidFill>
                <a:latin typeface="Calibri"/>
              </a:rPr>
              <a:t>Vigilancia de tormentas rotantes para el centro-sur de Chile, hora a hora y en celdas de 25 km, con datos abiertos en AWS.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A3AE"/>
                </a:solidFill>
                <a:latin typeface="Calibri"/>
              </a:rPr>
              <a:t>Foto: Los Ángeles, Biobío, 30 de mayo de 2019. Publicada en Vicencio Veloso (2022), Meteored; la fuente no indica autor.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13232"/>
            <a:ext cx="11064240" cy="822960"/>
          </a:xfrm>
        </p:spPr>
        <p:txBody>
          <a:bodyPr lIns="0" rIns="0" tIns="0" bIns="0" wrap="square" anchor="t"/>
          <a:lstStyle/>
          <a:p>
            <a:pPr algn="l"/>
            <a:r>
              <a:rPr sz="3400" b="1">
                <a:solidFill>
                  <a:srgbClr val="0E1A2C"/>
                </a:solidFill>
                <a:latin typeface="Arial"/>
              </a:rPr>
              <a:t>En Chile hay tornados, pero casi nadie los ve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76284"/>
                </a:solidFill>
                <a:latin typeface="Calibri"/>
              </a:rPr>
              <a:t>EL PROBLEMA</a:t>
            </a:r>
          </a:p>
        </p:txBody>
      </p:sp>
      <p:sp>
        <p:nvSpPr>
          <p:cNvPr id="4" name="Dato 1"/>
          <p:cNvSpPr/>
          <p:nvPr/>
        </p:nvSpPr>
        <p:spPr>
          <a:xfrm>
            <a:off x="548640" y="1828800"/>
            <a:ext cx="30175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D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93392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D3557"/>
                </a:solidFill>
                <a:latin typeface="Arial"/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5176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65463"/>
                </a:solidFill>
                <a:latin typeface="Calibri"/>
              </a:rPr>
              <a:t>tornados y trombas catalogados entre 1554 y 2025</a:t>
            </a:r>
          </a:p>
        </p:txBody>
      </p:sp>
      <p:sp>
        <p:nvSpPr>
          <p:cNvPr id="7" name="Dato 2"/>
          <p:cNvSpPr/>
          <p:nvPr/>
        </p:nvSpPr>
        <p:spPr>
          <a:xfrm>
            <a:off x="3794759" y="1828800"/>
            <a:ext cx="30175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D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59" y="1993392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D3557"/>
                </a:solidFill>
                <a:latin typeface="Arial"/>
              </a:rPr>
              <a:t>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59" y="265176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65463"/>
                </a:solidFill>
                <a:latin typeface="Calibri"/>
              </a:rPr>
              <a:t>de ellos desde 2015: el registro crece con los celulares</a:t>
            </a:r>
          </a:p>
        </p:txBody>
      </p:sp>
      <p:sp>
        <p:nvSpPr>
          <p:cNvPr id="10" name="Dato 3"/>
          <p:cNvSpPr/>
          <p:nvPr/>
        </p:nvSpPr>
        <p:spPr>
          <a:xfrm>
            <a:off x="548640" y="3429000"/>
            <a:ext cx="30175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D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593592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D3557"/>
                </a:solidFill>
                <a:latin typeface="Arial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65463"/>
                </a:solidFill>
                <a:latin typeface="Calibri"/>
              </a:rPr>
              <a:t>tornados en menos de 24 horas en mayo de 2019</a:t>
            </a:r>
          </a:p>
        </p:txBody>
      </p:sp>
      <p:sp>
        <p:nvSpPr>
          <p:cNvPr id="13" name="Dato 4"/>
          <p:cNvSpPr/>
          <p:nvPr/>
        </p:nvSpPr>
        <p:spPr>
          <a:xfrm>
            <a:off x="3794759" y="3429000"/>
            <a:ext cx="30175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D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59" y="3593592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E63946"/>
                </a:solidFill>
                <a:latin typeface="Arial"/>
              </a:rPr>
              <a:t>0 de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59" y="425196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65463"/>
                </a:solidFill>
                <a:latin typeface="Calibri"/>
              </a:rPr>
              <a:t>marcados por el índice STP con umbrales de EE. UU.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6217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1A2C"/>
                </a:solidFill>
                <a:latin typeface="Calibri"/>
              </a:rPr>
              <a:t>Sin red de radares meteorológicos, </a:t>
            </a:r>
            <a:r>
              <a:rPr sz="1500" b="0" i="0">
                <a:solidFill>
                  <a:srgbClr val="1D3557"/>
                </a:solidFill>
                <a:latin typeface="Calibri"/>
              </a:rPr>
              <a:t>un tornado solo existe si alguien lo ve y lo reporta. El 30 de mayo de 2019 el tornado de Los Ángeles dejó un muerto y decenas de heridos, y nadie avisó porque no había con qué.</a:t>
            </a:r>
          </a:p>
        </p:txBody>
      </p:sp>
      <p:pic>
        <p:nvPicPr>
          <p:cNvPr id="17" name="Mapa del catálogo" descr="fig1_catalog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00200"/>
            <a:ext cx="4512945" cy="4709160"/>
          </a:xfrm>
          <a:prstGeom prst="rect">
            <a:avLst/>
          </a:prstGeom>
        </p:spPr>
      </p:pic>
      <p:sp>
        <p:nvSpPr>
          <p:cNvPr id="18" name="Pie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65463"/>
                </a:solidFill>
                <a:latin typeface="Calibri"/>
              </a:rPr>
              <a:t>Vórtice · Breaking Barriers Chile 2026 · desafío CR2</a:t>
            </a:r>
          </a:p>
        </p:txBody>
      </p:sp>
      <p:sp>
        <p:nvSpPr>
          <p:cNvPr id="19" name="Número"/>
          <p:cNvSpPr txBox="1"/>
          <p:nvPr/>
        </p:nvSpPr>
        <p:spPr>
          <a:xfrm>
            <a:off x="10972800" y="6400800"/>
            <a:ext cx="667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6546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13232"/>
            <a:ext cx="11064240" cy="822960"/>
          </a:xfrm>
        </p:spPr>
        <p:txBody>
          <a:bodyPr lIns="0" rIns="0" tIns="0" bIns="0" wrap="square" anchor="t"/>
          <a:lstStyle/>
          <a:p>
            <a:pPr algn="l"/>
            <a:r>
              <a:rPr sz="3400" b="1">
                <a:solidFill>
                  <a:srgbClr val="0E1A2C"/>
                </a:solidFill>
                <a:latin typeface="Arial"/>
              </a:rPr>
              <a:t>Las recetas importadas no sirven para Chile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76284"/>
                </a:solidFill>
                <a:latin typeface="Calibri"/>
              </a:rPr>
              <a:t>POR QUÉ ES DIFÍCIL</a:t>
            </a:r>
          </a:p>
        </p:txBody>
      </p:sp>
      <p:sp>
        <p:nvSpPr>
          <p:cNvPr id="4" name="Tarjeta Hemisferio sur"/>
          <p:cNvSpPr/>
          <p:nvPr/>
        </p:nvSpPr>
        <p:spPr>
          <a:xfrm>
            <a:off x="548640" y="1874519"/>
            <a:ext cx="34747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D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2148840"/>
            <a:ext cx="420624" cy="420624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7889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E1A2C"/>
                </a:solidFill>
                <a:latin typeface="Arial"/>
              </a:rPr>
              <a:t>Hemisferio sur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337560"/>
            <a:ext cx="2971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D3557"/>
                </a:solidFill>
                <a:latin typeface="Calibri"/>
              </a:rPr>
              <a:t>La helicidad tornádica es negativa y las supercélulas favorecidas giran al revés (left-movers). Las librerías usadas tal cual entregan índices con el signo cambiado.</a:t>
            </a:r>
          </a:p>
        </p:txBody>
      </p:sp>
      <p:sp>
        <p:nvSpPr>
          <p:cNvPr id="8" name="Tarjeta Régimen HSLC"/>
          <p:cNvSpPr/>
          <p:nvPr/>
        </p:nvSpPr>
        <p:spPr>
          <a:xfrm>
            <a:off x="4297679" y="1874519"/>
            <a:ext cx="34747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D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1999" y="2148840"/>
            <a:ext cx="420624" cy="420624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27889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E1A2C"/>
                </a:solidFill>
                <a:latin typeface="Arial"/>
              </a:rPr>
              <a:t>Régimen HSLC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3337560"/>
            <a:ext cx="2971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D3557"/>
                </a:solidFill>
                <a:latin typeface="Calibri"/>
              </a:rPr>
              <a:t>Mucha cizalle y poca inestabilidad. Los umbrales de EE. UU. no disparan; usamos los calibrados para Chile: VGP₀₋₁ &gt; 0,1 m/s², SHERBE ≥ 1, STP ≤ −0,3.</a:t>
            </a:r>
          </a:p>
        </p:txBody>
      </p:sp>
      <p:sp>
        <p:nvSpPr>
          <p:cNvPr id="12" name="Tarjeta Solo positivos"/>
          <p:cNvSpPr/>
          <p:nvPr/>
        </p:nvSpPr>
        <p:spPr>
          <a:xfrm>
            <a:off x="8046719" y="1874519"/>
            <a:ext cx="34747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D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1040" y="2148840"/>
            <a:ext cx="420624" cy="420624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7889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E1A2C"/>
                </a:solidFill>
                <a:latin typeface="Arial"/>
              </a:rPr>
              <a:t>Solo positivos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337560"/>
            <a:ext cx="2971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D3557"/>
                </a:solidFill>
                <a:latin typeface="Calibri"/>
              </a:rPr>
              <a:t>El catálogo registra lo que alguien vio. Un día sin reporte no es un día sin tornado: por eso entrenamos con aprendizaje PU (positivos y sin etiquetar).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1A2C"/>
                </a:solidFill>
                <a:latin typeface="Calibri"/>
              </a:rPr>
              <a:t>Vórtice está calibrado para el régimen chileno desde el primer índice. </a:t>
            </a:r>
            <a:r>
              <a:rPr sz="1500" b="0" i="0">
                <a:solidFill>
                  <a:srgbClr val="465463"/>
                </a:solidFill>
                <a:latin typeface="Calibri"/>
              </a:rPr>
              <a:t>Los signos y umbrales australes vienen de la literatura chilena (CR2).</a:t>
            </a:r>
          </a:p>
        </p:txBody>
      </p:sp>
      <p:sp>
        <p:nvSpPr>
          <p:cNvPr id="17" name="Pie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65463"/>
                </a:solidFill>
                <a:latin typeface="Calibri"/>
              </a:rPr>
              <a:t>Vórtice · Breaking Barriers Chile 2026 · desafío CR2</a:t>
            </a:r>
          </a:p>
        </p:txBody>
      </p:sp>
      <p:sp>
        <p:nvSpPr>
          <p:cNvPr id="18" name="Número"/>
          <p:cNvSpPr txBox="1"/>
          <p:nvPr/>
        </p:nvSpPr>
        <p:spPr>
          <a:xfrm>
            <a:off x="10972800" y="6400800"/>
            <a:ext cx="667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6546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13232"/>
            <a:ext cx="11064240" cy="822960"/>
          </a:xfrm>
        </p:spPr>
        <p:txBody>
          <a:bodyPr lIns="0" rIns="0" tIns="0" bIns="0" wrap="square" anchor="t"/>
          <a:lstStyle/>
          <a:p>
            <a:pPr algn="l"/>
            <a:r>
              <a:rPr sz="3400" b="1">
                <a:solidFill>
                  <a:srgbClr val="0E1A2C"/>
                </a:solidFill>
                <a:latin typeface="Arial"/>
              </a:rPr>
              <a:t>De datos abiertos a un puntaje por celda y hora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76284"/>
                </a:solidFill>
                <a:latin typeface="Calibri"/>
              </a:rPr>
              <a:t>METODOLOGÍA</a:t>
            </a:r>
          </a:p>
        </p:txBody>
      </p:sp>
      <p:sp>
        <p:nvSpPr>
          <p:cNvPr id="4" name="Paso 1"/>
          <p:cNvSpPr/>
          <p:nvPr/>
        </p:nvSpPr>
        <p:spPr>
          <a:xfrm>
            <a:off x="548640" y="1874519"/>
            <a:ext cx="20574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D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2075688"/>
            <a:ext cx="384048" cy="384048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60604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1A2C"/>
                </a:solidFill>
                <a:latin typeface="Arial"/>
              </a:rPr>
              <a:t>Datos abiertos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20040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65463"/>
                </a:solidFill>
                <a:latin typeface="Calibri"/>
              </a:rPr>
              <a:t>ERA5 (NSF NCAR) y GOES-16/19 en S3, sin costo de licencia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24328" y="2990088"/>
            <a:ext cx="146304" cy="0"/>
          </a:xfrm>
          <a:prstGeom prst="line">
            <a:avLst/>
          </a:prstGeom>
          <a:ln w="22225">
            <a:solidFill>
              <a:srgbClr val="3762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aso 2"/>
          <p:cNvSpPr/>
          <p:nvPr/>
        </p:nvSpPr>
        <p:spPr>
          <a:xfrm>
            <a:off x="2788920" y="1874519"/>
            <a:ext cx="20574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D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90088" y="2075688"/>
            <a:ext cx="384048" cy="384048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260604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1A2C"/>
                </a:solidFill>
                <a:latin typeface="Arial"/>
              </a:rPr>
              <a:t>Recorte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320040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65463"/>
                </a:solidFill>
                <a:latin typeface="Calibri"/>
              </a:rPr>
              <a:t>30°–45°S en celdas de 0,25° (≈ 25 km), hora a hora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64608" y="2990088"/>
            <a:ext cx="146304" cy="0"/>
          </a:xfrm>
          <a:prstGeom prst="line">
            <a:avLst/>
          </a:prstGeom>
          <a:ln w="22225">
            <a:solidFill>
              <a:srgbClr val="3762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aso 3"/>
          <p:cNvSpPr/>
          <p:nvPr/>
        </p:nvSpPr>
        <p:spPr>
          <a:xfrm>
            <a:off x="5029200" y="1874519"/>
            <a:ext cx="20574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D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0368" y="2075688"/>
            <a:ext cx="384048" cy="384048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60604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1A2C"/>
                </a:solidFill>
                <a:latin typeface="Arial"/>
              </a:rPr>
              <a:t>11 índices australes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320040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65463"/>
                </a:solidFill>
                <a:latin typeface="Calibri"/>
              </a:rPr>
              <a:t>Cizalle, helicidad, LCL, gradientes, VGP, STP y SHERB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04888" y="2990088"/>
            <a:ext cx="146304" cy="0"/>
          </a:xfrm>
          <a:prstGeom prst="line">
            <a:avLst/>
          </a:prstGeom>
          <a:ln w="22225">
            <a:solidFill>
              <a:srgbClr val="3762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so 4"/>
          <p:cNvSpPr/>
          <p:nvPr/>
        </p:nvSpPr>
        <p:spPr>
          <a:xfrm>
            <a:off x="7269480" y="1874519"/>
            <a:ext cx="20574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D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70648" y="2075688"/>
            <a:ext cx="384048" cy="384048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0648" y="260604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1A2C"/>
                </a:solidFill>
                <a:latin typeface="Arial"/>
              </a:rPr>
              <a:t>Modelo PU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0648" y="320040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65463"/>
                </a:solidFill>
                <a:latin typeface="Calibri"/>
              </a:rPr>
              <a:t>Aprende de 102 eventos sin suponer que lo no reportado es negativo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45167" y="2990088"/>
            <a:ext cx="146305" cy="0"/>
          </a:xfrm>
          <a:prstGeom prst="line">
            <a:avLst/>
          </a:prstGeom>
          <a:ln w="22225">
            <a:solidFill>
              <a:srgbClr val="3762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aso 5"/>
          <p:cNvSpPr/>
          <p:nvPr/>
        </p:nvSpPr>
        <p:spPr>
          <a:xfrm>
            <a:off x="9509760" y="1874519"/>
            <a:ext cx="2057400" cy="2240280"/>
          </a:xfrm>
          <a:prstGeom prst="roundRect">
            <a:avLst>
              <a:gd name="adj" fmla="val 6000"/>
            </a:avLst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10928" y="2075688"/>
            <a:ext cx="384048" cy="384048"/>
          </a:xfrm>
          <a:prstGeom prst="ellipse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E1A2C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0928" y="260604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1FAEE"/>
                </a:solidFill>
                <a:latin typeface="Arial"/>
              </a:rPr>
              <a:t>Puntaje 0–100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320040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CEBEA"/>
                </a:solidFill>
                <a:latin typeface="Calibri"/>
              </a:rPr>
              <a:t>Por celda y hora, con los índices que lo explican</a:t>
            </a:r>
          </a:p>
        </p:txBody>
      </p:sp>
      <p:sp>
        <p:nvSpPr>
          <p:cNvPr id="28" name="Protocolo"/>
          <p:cNvSpPr/>
          <p:nvPr/>
        </p:nvSpPr>
        <p:spPr>
          <a:xfrm>
            <a:off x="548640" y="4434840"/>
            <a:ext cx="11091672" cy="1600200"/>
          </a:xfrm>
          <a:prstGeom prst="roundRect">
            <a:avLst>
              <a:gd name="adj" fmla="val 6000"/>
            </a:avLst>
          </a:prstGeom>
          <a:solidFill>
            <a:srgbClr val="EF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617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1A2C"/>
                </a:solidFill>
                <a:latin typeface="Arial"/>
              </a:rPr>
              <a:t>Protocolo de evaluación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07492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3557"/>
                </a:solidFill>
                <a:latin typeface="Calibri"/>
              </a:rPr>
              <a:t>Particiones por año</a:t>
            </a:r>
          </a:p>
          <a:p>
            <a:pPr algn="l"/>
            <a:r>
              <a:rPr sz="1400" b="0" i="0">
                <a:solidFill>
                  <a:srgbClr val="465463"/>
                </a:solidFill>
                <a:latin typeface="Calibri"/>
              </a:rPr>
              <a:t>entrenamiento 2018–2023 · validación 2024 · prueba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507492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3557"/>
                </a:solidFill>
                <a:latin typeface="Calibri"/>
              </a:rPr>
              <a:t>Acierto tolerante</a:t>
            </a:r>
          </a:p>
          <a:p>
            <a:pPr algn="l"/>
            <a:r>
              <a:rPr sz="1400" b="0" i="0">
                <a:solidFill>
                  <a:srgbClr val="465463"/>
                </a:solidFill>
                <a:latin typeface="Calibri"/>
              </a:rPr>
              <a:t>celda marcada a ≤ 50 km y ± 6 h del evento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07492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3557"/>
                </a:solidFill>
                <a:latin typeface="Calibri"/>
              </a:rPr>
              <a:t>Métricas del CR2</a:t>
            </a:r>
          </a:p>
          <a:p>
            <a:pPr algn="l"/>
            <a:r>
              <a:rPr sz="1400" b="0" i="0">
                <a:solidFill>
                  <a:srgbClr val="465463"/>
                </a:solidFill>
                <a:latin typeface="Calibri"/>
              </a:rPr>
              <a:t>por evento y por día, siempre junto a la regla física</a:t>
            </a:r>
          </a:p>
        </p:txBody>
      </p:sp>
      <p:sp>
        <p:nvSpPr>
          <p:cNvPr id="33" name="Pie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65463"/>
                </a:solidFill>
                <a:latin typeface="Calibri"/>
              </a:rPr>
              <a:t>Vórtice · Breaking Barriers Chile 2026 · desafío CR2</a:t>
            </a:r>
          </a:p>
        </p:txBody>
      </p:sp>
      <p:sp>
        <p:nvSpPr>
          <p:cNvPr id="34" name="Número"/>
          <p:cNvSpPr txBox="1"/>
          <p:nvPr/>
        </p:nvSpPr>
        <p:spPr>
          <a:xfrm>
            <a:off x="10972800" y="6400800"/>
            <a:ext cx="667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6546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13232"/>
            <a:ext cx="11064240" cy="822960"/>
          </a:xfrm>
        </p:spPr>
        <p:txBody>
          <a:bodyPr lIns="0" rIns="0" tIns="0" bIns="0" wrap="square" anchor="t"/>
          <a:lstStyle/>
          <a:p>
            <a:pPr algn="l"/>
            <a:r>
              <a:rPr sz="3400" b="1">
                <a:solidFill>
                  <a:srgbClr val="0E1A2C"/>
                </a:solidFill>
                <a:latin typeface="Arial"/>
              </a:rPr>
              <a:t>El motor nuevo: una red neuronal de 15 KB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76284"/>
                </a:solidFill>
                <a:latin typeface="Calibri"/>
              </a:rPr>
              <a:t>EL MODELO VÓRTICE</a:t>
            </a:r>
          </a:p>
        </p:txBody>
      </p:sp>
      <p:sp>
        <p:nvSpPr>
          <p:cNvPr id="4" name="Capa 11"/>
          <p:cNvSpPr/>
          <p:nvPr/>
        </p:nvSpPr>
        <p:spPr>
          <a:xfrm>
            <a:off x="548640" y="2286000"/>
            <a:ext cx="10515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762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51560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1D3557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59" y="480060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465463"/>
                </a:solidFill>
                <a:latin typeface="Calibri"/>
              </a:rPr>
              <a:t>índices ERA5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27631" y="3291840"/>
            <a:ext cx="356617" cy="0"/>
          </a:xfrm>
          <a:prstGeom prst="line">
            <a:avLst/>
          </a:prstGeom>
          <a:ln w="22225">
            <a:solidFill>
              <a:srgbClr val="3762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pa 64"/>
          <p:cNvSpPr/>
          <p:nvPr/>
        </p:nvSpPr>
        <p:spPr>
          <a:xfrm>
            <a:off x="2011680" y="1920240"/>
            <a:ext cx="10515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762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1920240"/>
            <a:ext cx="1051560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1D3557"/>
                </a:solidFill>
                <a:latin typeface="Arial"/>
              </a:rPr>
              <a:t>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0060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465463"/>
                </a:solidFill>
                <a:latin typeface="Calibri"/>
              </a:rPr>
              <a:t>neuronas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90672" y="3291840"/>
            <a:ext cx="356616" cy="0"/>
          </a:xfrm>
          <a:prstGeom prst="line">
            <a:avLst/>
          </a:prstGeom>
          <a:ln w="22225">
            <a:solidFill>
              <a:srgbClr val="3762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pa 32"/>
          <p:cNvSpPr/>
          <p:nvPr/>
        </p:nvSpPr>
        <p:spPr>
          <a:xfrm>
            <a:off x="3474720" y="2194560"/>
            <a:ext cx="10515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762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194560"/>
            <a:ext cx="105156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1D3557"/>
                </a:solidFill>
                <a:latin typeface="Arial"/>
              </a:rPr>
              <a:t>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80060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465463"/>
                </a:solidFill>
                <a:latin typeface="Calibri"/>
              </a:rPr>
              <a:t>neuronas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53712" y="3291840"/>
            <a:ext cx="356616" cy="0"/>
          </a:xfrm>
          <a:prstGeom prst="line">
            <a:avLst/>
          </a:prstGeom>
          <a:ln w="22225">
            <a:solidFill>
              <a:srgbClr val="3762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pa 1"/>
          <p:cNvSpPr/>
          <p:nvPr/>
        </p:nvSpPr>
        <p:spPr>
          <a:xfrm>
            <a:off x="4937760" y="2743200"/>
            <a:ext cx="1051560" cy="1097280"/>
          </a:xfrm>
          <a:prstGeom prst="roundRect">
            <a:avLst>
              <a:gd name="adj" fmla="val 6000"/>
            </a:avLst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2743200"/>
            <a:ext cx="10515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1FAEE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80060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465463"/>
                </a:solidFill>
                <a:latin typeface="Calibri"/>
              </a:rPr>
              <a:t>puntaje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17830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D3557"/>
                </a:solidFill>
                <a:latin typeface="Arial"/>
              </a:rPr>
              <a:t>2 881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33172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65463"/>
                </a:solidFill>
                <a:latin typeface="Calibri"/>
              </a:rPr>
              <a:t>parámetros · checkpoint de 15 KB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7830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D3557"/>
                </a:solidFill>
                <a:latin typeface="Arial"/>
              </a:rPr>
              <a:t>nnPU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33172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65463"/>
                </a:solidFill>
                <a:latin typeface="Calibri"/>
              </a:rPr>
              <a:t>pérdida PU no negativa (Kiryo et al., 2017)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1089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D3557"/>
                </a:solidFill>
                <a:latin typeface="Arial"/>
              </a:rPr>
              <a:t>0,28 %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65760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65463"/>
                </a:solidFill>
                <a:latin typeface="Calibri"/>
              </a:rPr>
              <a:t>de celdas-hora positivas: eventos rarísimos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1089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D3557"/>
                </a:solidFill>
                <a:latin typeface="Arial"/>
              </a:rPr>
              <a:t>top 5 %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65760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65463"/>
                </a:solidFill>
                <a:latin typeface="Calibri"/>
              </a:rPr>
              <a:t>umbral operativo del dominio</a:t>
            </a:r>
          </a:p>
        </p:txBody>
      </p:sp>
      <p:sp>
        <p:nvSpPr>
          <p:cNvPr id="27" name="Despliegue"/>
          <p:cNvSpPr/>
          <p:nvPr/>
        </p:nvSpPr>
        <p:spPr>
          <a:xfrm>
            <a:off x="6720840" y="4526280"/>
            <a:ext cx="4919472" cy="1143000"/>
          </a:xfrm>
          <a:prstGeom prst="roundRect">
            <a:avLst>
              <a:gd name="adj" fmla="val 6000"/>
            </a:avLst>
          </a:prstGeom>
          <a:solidFill>
            <a:srgbClr val="EF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4681728"/>
            <a:ext cx="4526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1A2C"/>
                </a:solidFill>
                <a:latin typeface="Calibri"/>
              </a:rPr>
              <a:t>Se sirve con numpy, sin PyTorch. </a:t>
            </a:r>
            <a:r>
              <a:rPr sz="1400" b="0" i="0">
                <a:solidFill>
                  <a:srgbClr val="1D3557"/>
                </a:solidFill>
                <a:latin typeface="Calibri"/>
              </a:rPr>
              <a:t>La API carga los pesos y la normalización del checkpoint, y el mismo contrato funciona con el motor local o con un endpoint de SageMaker.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532120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07800"/>
                </a:solidFill>
                <a:latin typeface="Calibri"/>
              </a:rPr>
              <a:t>Estado: </a:t>
            </a:r>
            <a:r>
              <a:rPr sz="1300" b="0" i="0">
                <a:solidFill>
                  <a:srgbClr val="465463"/>
                </a:solidFill>
                <a:latin typeface="Calibri"/>
              </a:rPr>
              <a:t>checkpoint de prueba entrenado con 2 días. Antes de reemplazar al motor de referencia debe pasar el mismo protocolo (validación 2024, prueba 2025).</a:t>
            </a:r>
          </a:p>
        </p:txBody>
      </p:sp>
      <p:sp>
        <p:nvSpPr>
          <p:cNvPr id="30" name="Pie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65463"/>
                </a:solidFill>
                <a:latin typeface="Calibri"/>
              </a:rPr>
              <a:t>Vórtice · Breaking Barriers Chile 2026 · desafío CR2</a:t>
            </a:r>
          </a:p>
        </p:txBody>
      </p:sp>
      <p:sp>
        <p:nvSpPr>
          <p:cNvPr id="31" name="Número"/>
          <p:cNvSpPr txBox="1"/>
          <p:nvPr/>
        </p:nvSpPr>
        <p:spPr>
          <a:xfrm>
            <a:off x="10972800" y="6400800"/>
            <a:ext cx="667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6546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13232"/>
            <a:ext cx="11064240" cy="822960"/>
          </a:xfrm>
        </p:spPr>
        <p:txBody>
          <a:bodyPr lIns="0" rIns="0" tIns="0" bIns="0" wrap="square" anchor="t"/>
          <a:lstStyle/>
          <a:p>
            <a:pPr algn="l"/>
            <a:r>
              <a:rPr sz="3400" b="1">
                <a:solidFill>
                  <a:srgbClr val="0E1A2C"/>
                </a:solidFill>
                <a:latin typeface="Arial"/>
              </a:rPr>
              <a:t>Con igual área, Vórtice detecta más del doble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76284"/>
                </a:solidFill>
                <a:latin typeface="Calibri"/>
              </a:rPr>
              <a:t>EVIDENCIA · PRONÓSTICO PANGU-WEATHER</a:t>
            </a:r>
          </a:p>
        </p:txBody>
      </p:sp>
      <p:graphicFrame>
        <p:nvGraphicFramePr>
          <p:cNvPr id="4" name="Gráfico detección"/>
          <p:cNvGraphicFramePr>
            <a:graphicFrameLocks noGrp="1"/>
          </p:cNvGraphicFramePr>
          <p:nvPr/>
        </p:nvGraphicFramePr>
        <p:xfrm>
          <a:off x="548640" y="1737360"/>
          <a:ext cx="67665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KPI 1"/>
          <p:cNvSpPr/>
          <p:nvPr/>
        </p:nvSpPr>
        <p:spPr>
          <a:xfrm>
            <a:off x="7680960" y="1737360"/>
            <a:ext cx="395935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D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60" y="187451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65463"/>
                </a:solidFill>
                <a:latin typeface="Calibri"/>
              </a:rPr>
              <a:t>Detección de nunca vistos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187451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2E7D5B"/>
                </a:solidFill>
                <a:latin typeface="Calibri"/>
              </a:rPr>
              <a:t>Cumple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19456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1A2C"/>
                </a:solidFill>
                <a:latin typeface="Arial"/>
              </a:rPr>
              <a:t>5 de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600" y="2304288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65463"/>
                </a:solidFill>
                <a:latin typeface="Calibri"/>
              </a:rPr>
              <a:t>meta CR2 ≥ 70 % · logra 71 %</a:t>
            </a:r>
          </a:p>
        </p:txBody>
      </p:sp>
      <p:sp>
        <p:nvSpPr>
          <p:cNvPr id="10" name="KPI 2"/>
          <p:cNvSpPr/>
          <p:nvPr/>
        </p:nvSpPr>
        <p:spPr>
          <a:xfrm>
            <a:off x="7680960" y="3172968"/>
            <a:ext cx="395935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D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3310127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65463"/>
                </a:solidFill>
                <a:latin typeface="Calibri"/>
              </a:rPr>
              <a:t>Falsas alarmas por día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3310127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B07800"/>
                </a:solidFill>
                <a:latin typeface="Calibri"/>
              </a:rPr>
              <a:t>Mejora la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630168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1A2C"/>
                </a:solidFill>
                <a:latin typeface="Arial"/>
              </a:rPr>
              <a:t>≈ 60 %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3739896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65463"/>
                </a:solidFill>
                <a:latin typeface="Calibri"/>
              </a:rPr>
              <a:t>meta ≤ 50 % · regla ≈ 70 %</a:t>
            </a:r>
          </a:p>
        </p:txBody>
      </p:sp>
      <p:sp>
        <p:nvSpPr>
          <p:cNvPr id="15" name="KPI 3"/>
          <p:cNvSpPr/>
          <p:nvPr/>
        </p:nvSpPr>
        <p:spPr>
          <a:xfrm>
            <a:off x="7680960" y="4608576"/>
            <a:ext cx="395935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D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474573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65463"/>
                </a:solidFill>
                <a:latin typeface="Calibri"/>
              </a:rPr>
              <a:t>Días de alerta por acierto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4745736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B07800"/>
                </a:solidFill>
                <a:latin typeface="Calibri"/>
              </a:rPr>
              <a:t>Cerca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5065776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1A2C"/>
                </a:solidFill>
                <a:latin typeface="Arial"/>
              </a:rPr>
              <a:t>≈ 2,5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5175504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65463"/>
                </a:solidFill>
                <a:latin typeface="Calibri"/>
              </a:rPr>
              <a:t>meta ≤ 2 · regla ≈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65463"/>
                </a:solidFill>
                <a:latin typeface="Calibri"/>
              </a:rPr>
              <a:t>Motor de referencia (bosque aleatorio, solo variables de viento) aplicado al pronóstico de IA Pangu-Weather; cada evento puntuado por un modelo que no vio su año. Intervalo 2024–25: 36–92 %. Ventaja sobre el azar: p ≈ 0,06.</a:t>
            </a:r>
          </a:p>
        </p:txBody>
      </p:sp>
      <p:sp>
        <p:nvSpPr>
          <p:cNvPr id="21" name="Pie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65463"/>
                </a:solidFill>
                <a:latin typeface="Calibri"/>
              </a:rPr>
              <a:t>Vórtice · Breaking Barriers Chile 2026 · desafío CR2</a:t>
            </a:r>
          </a:p>
        </p:txBody>
      </p:sp>
      <p:sp>
        <p:nvSpPr>
          <p:cNvPr id="22" name="Número"/>
          <p:cNvSpPr txBox="1"/>
          <p:nvPr/>
        </p:nvSpPr>
        <p:spPr>
          <a:xfrm>
            <a:off x="10972800" y="6400800"/>
            <a:ext cx="667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6546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13232"/>
            <a:ext cx="11064240" cy="822960"/>
          </a:xfrm>
        </p:spPr>
        <p:txBody>
          <a:bodyPr lIns="0" rIns="0" tIns="0" bIns="0" wrap="square" anchor="t"/>
          <a:lstStyle/>
          <a:p>
            <a:pPr algn="l"/>
            <a:r>
              <a:rPr sz="3400" b="1">
                <a:solidFill>
                  <a:srgbClr val="0E1A2C"/>
                </a:solidFill>
                <a:latin typeface="Arial"/>
              </a:rPr>
              <a:t>La solución en AWS: un contrato, dos motores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76284"/>
                </a:solidFill>
                <a:latin typeface="Calibri"/>
              </a:rPr>
              <a:t>ARQUITECTURA</a:t>
            </a:r>
          </a:p>
        </p:txBody>
      </p:sp>
      <p:sp>
        <p:nvSpPr>
          <p:cNvPr id="4" name="S3 · datos abiertos"/>
          <p:cNvSpPr/>
          <p:nvPr/>
        </p:nvSpPr>
        <p:spPr>
          <a:xfrm>
            <a:off x="548640" y="1874519"/>
            <a:ext cx="22860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D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29967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1A2C"/>
                </a:solidFill>
                <a:latin typeface="Arial"/>
              </a:rPr>
              <a:t>S3 · datos abiertos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65463"/>
                </a:solidFill>
                <a:latin typeface="Calibri"/>
              </a:rPr>
              <a:t>ERA5 (NSF NCAR)
GOES-16 / GOES-19</a:t>
            </a:r>
          </a:p>
        </p:txBody>
      </p:sp>
      <p:sp>
        <p:nvSpPr>
          <p:cNvPr id="7" name="EC2 Graviton"/>
          <p:cNvSpPr/>
          <p:nvPr/>
        </p:nvSpPr>
        <p:spPr>
          <a:xfrm>
            <a:off x="3246120" y="1874519"/>
            <a:ext cx="237744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D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2029967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1A2C"/>
                </a:solidFill>
                <a:latin typeface="Arial"/>
              </a:rPr>
              <a:t>EC2 Graviton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42316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65463"/>
                </a:solidFill>
                <a:latin typeface="Calibri"/>
              </a:rPr>
              <a:t>pipeline: recortes e
11 índices por hora</a:t>
            </a:r>
          </a:p>
        </p:txBody>
      </p:sp>
      <p:sp>
        <p:nvSpPr>
          <p:cNvPr id="10" name="API Vórtice (FastAPI)"/>
          <p:cNvSpPr/>
          <p:nvPr/>
        </p:nvSpPr>
        <p:spPr>
          <a:xfrm>
            <a:off x="6035040" y="1874519"/>
            <a:ext cx="2514600" cy="1325880"/>
          </a:xfrm>
          <a:prstGeom prst="roundRect">
            <a:avLst>
              <a:gd name="adj" fmla="val 6000"/>
            </a:avLst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029967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1FAEE"/>
                </a:solidFill>
                <a:latin typeface="Arial"/>
              </a:rPr>
              <a:t>API Vórtice (FastAPI)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2316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CEBEA"/>
                </a:solidFill>
                <a:latin typeface="Calibri"/>
              </a:rPr>
              <a:t>/api/predict · /api/docs
motor MLP local</a:t>
            </a:r>
          </a:p>
        </p:txBody>
      </p:sp>
      <p:sp>
        <p:nvSpPr>
          <p:cNvPr id="13" name="Sitio + consola (nginx)"/>
          <p:cNvSpPr/>
          <p:nvPr/>
        </p:nvSpPr>
        <p:spPr>
          <a:xfrm>
            <a:off x="8961120" y="1874519"/>
            <a:ext cx="267919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D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2029967"/>
            <a:ext cx="23134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1A2C"/>
                </a:solidFill>
                <a:latin typeface="Arial"/>
              </a:rPr>
              <a:t>Sitio + consola (nginx)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423160"/>
            <a:ext cx="23134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65463"/>
                </a:solidFill>
                <a:latin typeface="Calibri"/>
              </a:rPr>
              <a:t>mapas hora a hora y
explicación por celda</a:t>
            </a:r>
          </a:p>
        </p:txBody>
      </p:sp>
      <p:sp>
        <p:nvSpPr>
          <p:cNvPr id="16" name="Amazon SageMaker"/>
          <p:cNvSpPr/>
          <p:nvPr/>
        </p:nvSpPr>
        <p:spPr>
          <a:xfrm>
            <a:off x="6035040" y="3886200"/>
            <a:ext cx="25146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7628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404164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1A2C"/>
                </a:solidFill>
                <a:latin typeface="Arial"/>
              </a:rPr>
              <a:t>Amazon SageMaker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43484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65463"/>
                </a:solidFill>
                <a:latin typeface="Calibri"/>
              </a:rPr>
              <a:t>endpoint con el mismo
checkpoint (siguiente paso)</a:t>
            </a:r>
          </a:p>
        </p:txBody>
      </p:sp>
      <p:sp>
        <p:nvSpPr>
          <p:cNvPr id="19" name="Amazon CloudFront"/>
          <p:cNvSpPr/>
          <p:nvPr/>
        </p:nvSpPr>
        <p:spPr>
          <a:xfrm>
            <a:off x="8961120" y="3886200"/>
            <a:ext cx="267919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DD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4041648"/>
            <a:ext cx="23134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1A2C"/>
                </a:solidFill>
                <a:latin typeface="Arial"/>
              </a:rPr>
              <a:t>Amazon CloudFront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434840"/>
            <a:ext cx="23134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65463"/>
                </a:solidFill>
                <a:latin typeface="Calibri"/>
              </a:rPr>
              <a:t>HTTPS para el público,
el CR2, DMC y Senapred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52928" y="2542032"/>
            <a:ext cx="374904" cy="0"/>
          </a:xfrm>
          <a:prstGeom prst="line">
            <a:avLst/>
          </a:prstGeom>
          <a:ln w="22225">
            <a:solidFill>
              <a:srgbClr val="3762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641848" y="2542032"/>
            <a:ext cx="374904" cy="0"/>
          </a:xfrm>
          <a:prstGeom prst="line">
            <a:avLst/>
          </a:prstGeom>
          <a:ln w="22225">
            <a:solidFill>
              <a:srgbClr val="3762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567928" y="2542032"/>
            <a:ext cx="374904" cy="0"/>
          </a:xfrm>
          <a:prstGeom prst="line">
            <a:avLst/>
          </a:prstGeom>
          <a:ln w="22225">
            <a:solidFill>
              <a:srgbClr val="3762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287768" y="3218688"/>
            <a:ext cx="0" cy="649224"/>
          </a:xfrm>
          <a:prstGeom prst="line">
            <a:avLst/>
          </a:prstGeom>
          <a:ln w="22225">
            <a:solidFill>
              <a:srgbClr val="3762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296144" y="3218688"/>
            <a:ext cx="0" cy="649224"/>
          </a:xfrm>
          <a:prstGeom prst="line">
            <a:avLst/>
          </a:prstGeom>
          <a:ln w="22225">
            <a:solidFill>
              <a:srgbClr val="3762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79208" y="33649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376284"/>
                </a:solidFill>
                <a:latin typeface="Calibri"/>
              </a:rPr>
              <a:t>cambiar 2 variables</a:t>
            </a:r>
          </a:p>
        </p:txBody>
      </p:sp>
      <p:sp>
        <p:nvSpPr>
          <p:cNvPr id="28" name="Por qué así"/>
          <p:cNvSpPr/>
          <p:nvPr/>
        </p:nvSpPr>
        <p:spPr>
          <a:xfrm>
            <a:off x="548640" y="3886200"/>
            <a:ext cx="5074920" cy="1783080"/>
          </a:xfrm>
          <a:prstGeom prst="roundRect">
            <a:avLst>
              <a:gd name="adj" fmla="val 6000"/>
            </a:avLst>
          </a:prstGeom>
          <a:solidFill>
            <a:srgbClr val="EF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069080"/>
            <a:ext cx="46634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1A2C"/>
                </a:solidFill>
                <a:latin typeface="Arial"/>
              </a:rPr>
              <a:t>Por qué así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D3557"/>
                </a:solidFill>
                <a:latin typeface="Calibri"/>
              </a:rPr>
              <a:t>Los datos ya viven en S3: no hay descarga ni licencia.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D3557"/>
                </a:solidFill>
                <a:latin typeface="Calibri"/>
              </a:rPr>
              <a:t>La web y cualquier sistema externo piden puntajes por la misma API.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D3557"/>
                </a:solidFill>
                <a:latin typeface="Calibri"/>
              </a:rPr>
              <a:t>Pasar a SageMaker no cambia la web ni el contrato.</a:t>
            </a:r>
          </a:p>
        </p:txBody>
      </p:sp>
      <p:sp>
        <p:nvSpPr>
          <p:cNvPr id="30" name="Pie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65463"/>
                </a:solidFill>
                <a:latin typeface="Calibri"/>
              </a:rPr>
              <a:t>Vórtice · Breaking Barriers Chile 2026 · desafío CR2</a:t>
            </a:r>
          </a:p>
        </p:txBody>
      </p:sp>
      <p:sp>
        <p:nvSpPr>
          <p:cNvPr id="31" name="Número"/>
          <p:cNvSpPr txBox="1"/>
          <p:nvPr/>
        </p:nvSpPr>
        <p:spPr>
          <a:xfrm>
            <a:off x="10972800" y="6400800"/>
            <a:ext cx="667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6546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13232"/>
            <a:ext cx="11064240" cy="822960"/>
          </a:xfrm>
        </p:spPr>
        <p:txBody>
          <a:bodyPr lIns="0" rIns="0" tIns="0" bIns="0" wrap="square" anchor="t"/>
          <a:lstStyle/>
          <a:p>
            <a:pPr algn="l"/>
            <a:r>
              <a:rPr sz="3400" b="1">
                <a:solidFill>
                  <a:srgbClr val="0E1A2C"/>
                </a:solidFill>
                <a:latin typeface="Arial"/>
              </a:rPr>
              <a:t>Vigilar una temporada: ≈ USD 54 al mes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76284"/>
                </a:solidFill>
                <a:latin typeface="Calibri"/>
              </a:rPr>
              <a:t>COSTO</a:t>
            </a:r>
          </a:p>
        </p:txBody>
      </p:sp>
      <p:sp>
        <p:nvSpPr>
          <p:cNvPr id="4" name="Costo total"/>
          <p:cNvSpPr/>
          <p:nvPr/>
        </p:nvSpPr>
        <p:spPr>
          <a:xfrm>
            <a:off x="548640" y="178308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8DADC"/>
                </a:solidFill>
                <a:latin typeface="Calibri"/>
              </a:rPr>
              <a:t>OPERACIÓN PROPUESTA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1FAEE"/>
                </a:solidFill>
                <a:latin typeface="Arial"/>
              </a:rPr>
              <a:t>≈ USD 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CEBEA"/>
                </a:solidFill>
                <a:latin typeface="Calibri"/>
              </a:rPr>
              <a:t>al mes en temporada (abril–septiembre)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1FAEE"/>
                </a:solidFill>
                <a:latin typeface="Arial"/>
              </a:rPr>
              <a:t>≈ USD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CEBEA"/>
                </a:solidFill>
                <a:latin typeface="Calibri"/>
              </a:rPr>
              <a:t>al mes fuera de temporada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1FAEE"/>
                </a:solidFill>
                <a:latin typeface="Calibri"/>
              </a:rPr>
              <a:t>≈ USD 420 al año. </a:t>
            </a:r>
            <a:r>
              <a:rPr sz="1400" b="0" i="0">
                <a:solidFill>
                  <a:srgbClr val="DCEBEA"/>
                </a:solidFill>
                <a:latin typeface="Calibri"/>
              </a:rPr>
              <a:t>Un radar meteorológico cuesta millones.</a:t>
            </a:r>
          </a:p>
        </p:txBody>
      </p:sp>
      <p:graphicFrame>
        <p:nvGraphicFramePr>
          <p:cNvPr id="11" name="Tabla de costos"/>
          <p:cNvGraphicFramePr>
            <a:graphicFrameLocks noGrp="1"/>
          </p:cNvGraphicFramePr>
          <p:nvPr/>
        </p:nvGraphicFramePr>
        <p:xfrm>
          <a:off x="4434840" y="1783080"/>
          <a:ext cx="720547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320"/>
                <a:gridCol w="2423160"/>
                <a:gridCol w="107899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Componente</a:t>
                      </a:r>
                    </a:p>
                  </a:txBody>
                  <a:tcPr marL="109728" marR="109728" anchor="ctr"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Supuesto</a:t>
                      </a:r>
                    </a:p>
                  </a:txBody>
                  <a:tcPr marL="109728" marR="109728" anchor="ctr"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USD/mes</a:t>
                      </a:r>
                    </a:p>
                  </a:txBody>
                  <a:tcPr marL="109728" marR="109728" anchor="ctr">
                    <a:solidFill>
                      <a:srgbClr val="1D35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E1A2C"/>
                          </a:solidFill>
                          <a:latin typeface="Calibri"/>
                        </a:rPr>
                        <a:t>Sitio + API (EC2 t4g.small + 20 GB gp3)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65463"/>
                          </a:solidFill>
                          <a:latin typeface="Calibri"/>
                        </a:rPr>
                        <a:t>24/7 · USD 0,0168/h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E1A2C"/>
                          </a:solidFill>
                          <a:latin typeface="Calibri"/>
                        </a:rPr>
                        <a:t>13,9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E1A2C"/>
                          </a:solidFill>
                          <a:latin typeface="Calibri"/>
                        </a:rPr>
                        <a:t>Corrida diaria de índices (EC2 c6g.8xlarge)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65463"/>
                          </a:solidFill>
                          <a:latin typeface="Calibri"/>
                        </a:rPr>
                        <a:t>1 h/día · USD 1,088/h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E1A2C"/>
                          </a:solidFill>
                          <a:latin typeface="Calibri"/>
                        </a:rPr>
                        <a:t>32,6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E1A2C"/>
                          </a:solidFill>
                          <a:latin typeface="Calibri"/>
                        </a:rPr>
                        <a:t>ERA5 entre regiones (us-west-2 → us-east-1)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65463"/>
                          </a:solidFill>
                          <a:latin typeface="Calibri"/>
                        </a:rPr>
                        <a:t>≈ 9 GB/día · USD 0,02/GB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E1A2C"/>
                          </a:solidFill>
                          <a:latin typeface="Calibri"/>
                        </a:rPr>
                        <a:t>5,4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E1A2C"/>
                          </a:solidFill>
                          <a:latin typeface="Calibri"/>
                        </a:rPr>
                        <a:t>Amazon S3 (índices y checkpoint)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65463"/>
                          </a:solidFill>
                          <a:latin typeface="Calibri"/>
                        </a:rPr>
                        <a:t>100 GB · USD 0,023/GB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E1A2C"/>
                          </a:solidFill>
                          <a:latin typeface="Calibri"/>
                        </a:rPr>
                        <a:t>2,3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E1A2C"/>
                          </a:solidFill>
                          <a:latin typeface="Calibri"/>
                        </a:rPr>
                        <a:t>SageMaker Serverless (opcional)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65463"/>
                          </a:solidFill>
                          <a:latin typeface="Calibri"/>
                        </a:rPr>
                        <a:t>tráfico bajo, paga por uso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E1A2C"/>
                          </a:solidFill>
                          <a:latin typeface="Calibri"/>
                        </a:rPr>
                        <a:t>&lt; 1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E1A2C"/>
                          </a:solidFill>
                          <a:latin typeface="Calibri"/>
                        </a:rPr>
                        <a:t>CloudFront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65463"/>
                          </a:solidFill>
                          <a:latin typeface="Calibri"/>
                        </a:rPr>
                        <a:t>capa gratuita de 1 TB/mes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E1A2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E1A2C"/>
                          </a:solidFill>
                          <a:latin typeface="Calibri"/>
                        </a:rPr>
                        <a:t>Total en temporada</a:t>
                      </a:r>
                    </a:p>
                  </a:txBody>
                  <a:tcPr marL="109728" marR="109728" anchor="ctr">
                    <a:solidFill>
                      <a:srgbClr val="EF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46546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109728" anchor="ctr">
                    <a:solidFill>
                      <a:srgbClr val="EFF8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E1A2C"/>
                          </a:solidFill>
                          <a:latin typeface="Calibri"/>
                        </a:rPr>
                        <a:t>≈ 54</a:t>
                      </a:r>
                    </a:p>
                  </a:txBody>
                  <a:tcPr marL="109728" marR="109728" anchor="ctr">
                    <a:solidFill>
                      <a:srgbClr val="EFF8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434840" y="5577840"/>
            <a:ext cx="72054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65463"/>
                </a:solidFill>
                <a:latin typeface="Calibri"/>
              </a:rPr>
              <a:t>Precios de lista on-demand en us-east-1, sin impuestos; verificar en la calculadora de AWS. Procesar en us-west-2, junto al bucket de ERA5, elimina la transferencia. Hoy, en la hackatón, la c6g.8xlarge encendida 24/7 costaría ≈ USD 794/mes: el plan la enciende solo para la corrida.</a:t>
            </a:r>
          </a:p>
        </p:txBody>
      </p:sp>
      <p:sp>
        <p:nvSpPr>
          <p:cNvPr id="13" name="Pie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65463"/>
                </a:solidFill>
                <a:latin typeface="Calibri"/>
              </a:rPr>
              <a:t>Vórtice · Breaking Barriers Chile 2026 · desafío CR2</a:t>
            </a:r>
          </a:p>
        </p:txBody>
      </p:sp>
      <p:sp>
        <p:nvSpPr>
          <p:cNvPr id="14" name="Número"/>
          <p:cNvSpPr txBox="1"/>
          <p:nvPr/>
        </p:nvSpPr>
        <p:spPr>
          <a:xfrm>
            <a:off x="10972800" y="6400800"/>
            <a:ext cx="667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6546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13232"/>
            <a:ext cx="11064240" cy="822960"/>
          </a:xfrm>
        </p:spPr>
        <p:txBody>
          <a:bodyPr lIns="0" rIns="0" tIns="0" bIns="0" wrap="square" anchor="t"/>
          <a:lstStyle/>
          <a:p>
            <a:pPr algn="l"/>
            <a:r>
              <a:rPr sz="3400" b="1">
                <a:solidFill>
                  <a:srgbClr val="0E1A2C"/>
                </a:solidFill>
                <a:latin typeface="Arial"/>
              </a:rPr>
              <a:t>Demo: 26 de junio de 2023, lago Llanquihue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76284"/>
                </a:solidFill>
                <a:latin typeface="Calibri"/>
              </a:rPr>
              <a:t>DEMO EN VIVO · D1Y31U1KYLUKZ6.CLOUDFRONT.NET</a:t>
            </a:r>
          </a:p>
        </p:txBody>
      </p:sp>
      <p:pic>
        <p:nvPicPr>
          <p:cNvPr id="4" name="Mapas de la consola" descr="demo_20230626_20u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063296" cy="452628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852160" y="1783080"/>
            <a:ext cx="402336" cy="402336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764792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1A2C"/>
                </a:solidFill>
                <a:latin typeface="Calibri"/>
              </a:rPr>
              <a:t>Abrir la consola</a:t>
            </a:r>
          </a:p>
          <a:p>
            <a:pPr algn="l"/>
            <a:r>
              <a:rPr sz="1400" b="0" i="0">
                <a:solidFill>
                  <a:srgbClr val="465463"/>
                </a:solidFill>
                <a:latin typeface="Calibri"/>
              </a:rPr>
              <a:t>Ir a «Probar la consola» en la página de Vórtice.</a:t>
            </a:r>
          </a:p>
        </p:txBody>
      </p:sp>
      <p:sp>
        <p:nvSpPr>
          <p:cNvPr id="7" name="Oval 6"/>
          <p:cNvSpPr/>
          <p:nvPr/>
        </p:nvSpPr>
        <p:spPr>
          <a:xfrm>
            <a:off x="5852160" y="2670048"/>
            <a:ext cx="402336" cy="402336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651760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1A2C"/>
                </a:solidFill>
                <a:latin typeface="Calibri"/>
              </a:rPr>
              <a:t>Elegir día y hora</a:t>
            </a:r>
          </a:p>
          <a:p>
            <a:pPr algn="l"/>
            <a:r>
              <a:rPr sz="1400" b="0" i="0">
                <a:solidFill>
                  <a:srgbClr val="465463"/>
                </a:solidFill>
                <a:latin typeface="Calibri"/>
              </a:rPr>
              <a:t>26-06-2023; mover la hora de 16 a 22 UTC.</a:t>
            </a:r>
          </a:p>
        </p:txBody>
      </p:sp>
      <p:sp>
        <p:nvSpPr>
          <p:cNvPr id="9" name="Oval 8"/>
          <p:cNvSpPr/>
          <p:nvPr/>
        </p:nvSpPr>
        <p:spPr>
          <a:xfrm>
            <a:off x="5852160" y="3557015"/>
            <a:ext cx="402336" cy="402336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538727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1A2C"/>
                </a:solidFill>
                <a:latin typeface="Calibri"/>
              </a:rPr>
              <a:t>Comparar</a:t>
            </a:r>
          </a:p>
          <a:p>
            <a:pPr algn="l"/>
            <a:r>
              <a:rPr sz="1400" b="0" i="0">
                <a:solidFill>
                  <a:srgbClr val="465463"/>
                </a:solidFill>
                <a:latin typeface="Calibri"/>
              </a:rPr>
              <a:t>Vórtice se enciende sobre el lago; la regla STP no dispara.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0" y="4443984"/>
            <a:ext cx="402336" cy="402336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425696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1A2C"/>
                </a:solidFill>
                <a:latin typeface="Calibri"/>
              </a:rPr>
              <a:t>Tocar la celda</a:t>
            </a:r>
          </a:p>
          <a:p>
            <a:pPr algn="l"/>
            <a:r>
              <a:rPr sz="1400" b="0" i="0">
                <a:solidFill>
                  <a:srgbClr val="465463"/>
                </a:solidFill>
                <a:latin typeface="Calibri"/>
              </a:rPr>
              <a:t>Ver la cizalle, la helicidad y la base de la nube que la explican.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0" y="5330952"/>
            <a:ext cx="402336" cy="402336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312664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1A2C"/>
                </a:solidFill>
                <a:latin typeface="Calibri"/>
              </a:rPr>
              <a:t>Abrir /api/docs</a:t>
            </a:r>
          </a:p>
          <a:p>
            <a:pPr algn="l"/>
            <a:r>
              <a:rPr sz="1400" b="0" i="0">
                <a:solidFill>
                  <a:srgbClr val="465463"/>
                </a:solidFill>
                <a:latin typeface="Calibri"/>
              </a:rPr>
              <a:t>El mismo contrato para cualquier sistema externo.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6172200"/>
            <a:ext cx="5760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65463"/>
                </a:solidFill>
                <a:latin typeface="Calibri"/>
              </a:rPr>
              <a:t>Mapas: puntajes reales del checkpoint, 20 UTC. Día no usado para entrenar este motor.</a:t>
            </a:r>
          </a:p>
        </p:txBody>
      </p:sp>
      <p:sp>
        <p:nvSpPr>
          <p:cNvPr id="16" name="Pie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65463"/>
                </a:solidFill>
                <a:latin typeface="Calibri"/>
              </a:rPr>
              <a:t>Vórtice · Breaking Barriers Chile 2026 · desafío CR2</a:t>
            </a:r>
          </a:p>
        </p:txBody>
      </p:sp>
      <p:sp>
        <p:nvSpPr>
          <p:cNvPr id="17" name="Número"/>
          <p:cNvSpPr txBox="1"/>
          <p:nvPr/>
        </p:nvSpPr>
        <p:spPr>
          <a:xfrm>
            <a:off x="10972800" y="6400800"/>
            <a:ext cx="667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6546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13232"/>
            <a:ext cx="11064240" cy="822960"/>
          </a:xfrm>
        </p:spPr>
        <p:txBody>
          <a:bodyPr lIns="0" rIns="0" tIns="0" bIns="0" wrap="square" anchor="t"/>
          <a:lstStyle/>
          <a:p>
            <a:pPr algn="l"/>
            <a:r>
              <a:rPr sz="3400" b="1">
                <a:solidFill>
                  <a:srgbClr val="F1FAEE"/>
                </a:solidFill>
                <a:latin typeface="Arial"/>
              </a:rPr>
              <a:t>¿Pilotamos Vórtice en la temporada 2026?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8DADC"/>
                </a:solidFill>
                <a:latin typeface="Calibri"/>
              </a:rPr>
              <a:t>DE PILOTO A SERVICIO</a:t>
            </a:r>
          </a:p>
        </p:txBody>
      </p:sp>
      <p:sp>
        <p:nvSpPr>
          <p:cNvPr id="4" name="Etapa Hoy · piloto"/>
          <p:cNvSpPr/>
          <p:nvPr/>
        </p:nvSpPr>
        <p:spPr>
          <a:xfrm>
            <a:off x="548640" y="1874519"/>
            <a:ext cx="3474720" cy="2880360"/>
          </a:xfrm>
          <a:prstGeom prst="roundRect">
            <a:avLst>
              <a:gd name="adj" fmla="val 6000"/>
            </a:avLst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1031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A8DADC"/>
                </a:solidFill>
                <a:latin typeface="Arial"/>
              </a:rPr>
              <a:t>Hoy · piloto</a:t>
            </a:r>
          </a:p>
        </p:txBody>
      </p:sp>
      <p:sp>
        <p:nvSpPr>
          <p:cNvPr id="6" name="Marcador tornado"/>
          <p:cNvSpPr/>
          <p:nvPr/>
        </p:nvSpPr>
        <p:spPr>
          <a:xfrm>
            <a:off x="841247" y="2788920"/>
            <a:ext cx="164592" cy="141549"/>
          </a:xfrm>
          <a:prstGeom prst="triangle">
            <a:avLst/>
          </a:prstGeom>
          <a:solidFill>
            <a:srgbClr val="E63946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724912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DCEBEA"/>
                </a:solidFill>
                <a:latin typeface="Calibri"/>
              </a:rPr>
              <a:t>Consola y API en línea</a:t>
            </a:r>
          </a:p>
        </p:txBody>
      </p:sp>
      <p:sp>
        <p:nvSpPr>
          <p:cNvPr id="8" name="Marcador tornado"/>
          <p:cNvSpPr/>
          <p:nvPr/>
        </p:nvSpPr>
        <p:spPr>
          <a:xfrm>
            <a:off x="841247" y="3355848"/>
            <a:ext cx="164592" cy="141549"/>
          </a:xfrm>
          <a:prstGeom prst="triangle">
            <a:avLst/>
          </a:prstGeom>
          <a:solidFill>
            <a:srgbClr val="E63946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29184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DCEBEA"/>
                </a:solidFill>
                <a:latin typeface="Calibri"/>
              </a:rPr>
              <a:t>Casos históricos hora a hora</a:t>
            </a:r>
          </a:p>
        </p:txBody>
      </p:sp>
      <p:sp>
        <p:nvSpPr>
          <p:cNvPr id="10" name="Marcador tornado"/>
          <p:cNvSpPr/>
          <p:nvPr/>
        </p:nvSpPr>
        <p:spPr>
          <a:xfrm>
            <a:off x="841247" y="3922776"/>
            <a:ext cx="164592" cy="141549"/>
          </a:xfrm>
          <a:prstGeom prst="triangle">
            <a:avLst/>
          </a:prstGeom>
          <a:solidFill>
            <a:srgbClr val="E63946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858768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DCEBEA"/>
                </a:solidFill>
                <a:latin typeface="Calibri"/>
              </a:rPr>
              <a:t>Evidencia sobre Pangu-Weather</a:t>
            </a:r>
          </a:p>
        </p:txBody>
      </p:sp>
      <p:sp>
        <p:nvSpPr>
          <p:cNvPr id="12" name="Etapa Temporada 2026"/>
          <p:cNvSpPr/>
          <p:nvPr/>
        </p:nvSpPr>
        <p:spPr>
          <a:xfrm>
            <a:off x="4297679" y="1874519"/>
            <a:ext cx="3474720" cy="2880360"/>
          </a:xfrm>
          <a:prstGeom prst="roundRect">
            <a:avLst>
              <a:gd name="adj" fmla="val 6000"/>
            </a:avLst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21031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1FAEE"/>
                </a:solidFill>
                <a:latin typeface="Arial"/>
              </a:rPr>
              <a:t>Temporada 2026</a:t>
            </a:r>
          </a:p>
        </p:txBody>
      </p:sp>
      <p:sp>
        <p:nvSpPr>
          <p:cNvPr id="14" name="Marcador tornado"/>
          <p:cNvSpPr/>
          <p:nvPr/>
        </p:nvSpPr>
        <p:spPr>
          <a:xfrm>
            <a:off x="4590288" y="2788920"/>
            <a:ext cx="164592" cy="141549"/>
          </a:xfrm>
          <a:prstGeom prst="triangle">
            <a:avLst/>
          </a:prstGeom>
          <a:solidFill>
            <a:srgbClr val="E63946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2724912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DCEBEA"/>
                </a:solidFill>
                <a:latin typeface="Calibri"/>
              </a:rPr>
              <a:t>Endpoint de SageMaker</a:t>
            </a:r>
          </a:p>
        </p:txBody>
      </p:sp>
      <p:sp>
        <p:nvSpPr>
          <p:cNvPr id="16" name="Marcador tornado"/>
          <p:cNvSpPr/>
          <p:nvPr/>
        </p:nvSpPr>
        <p:spPr>
          <a:xfrm>
            <a:off x="4590288" y="3355848"/>
            <a:ext cx="164592" cy="141549"/>
          </a:xfrm>
          <a:prstGeom prst="triangle">
            <a:avLst/>
          </a:prstGeom>
          <a:solidFill>
            <a:srgbClr val="E63946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329184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DCEBEA"/>
                </a:solidFill>
                <a:latin typeface="Calibri"/>
              </a:rPr>
              <a:t>Puntaje diario abril–septiembre</a:t>
            </a:r>
          </a:p>
        </p:txBody>
      </p:sp>
      <p:sp>
        <p:nvSpPr>
          <p:cNvPr id="18" name="Marcador tornado"/>
          <p:cNvSpPr/>
          <p:nvPr/>
        </p:nvSpPr>
        <p:spPr>
          <a:xfrm>
            <a:off x="4590288" y="3922776"/>
            <a:ext cx="164592" cy="141549"/>
          </a:xfrm>
          <a:prstGeom prst="triangle">
            <a:avLst/>
          </a:prstGeom>
          <a:solidFill>
            <a:srgbClr val="E63946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3858768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DCEBEA"/>
                </a:solidFill>
                <a:latin typeface="Calibri"/>
              </a:rPr>
              <a:t>Lista de revisión semanal para el CR2</a:t>
            </a:r>
          </a:p>
        </p:txBody>
      </p:sp>
      <p:sp>
        <p:nvSpPr>
          <p:cNvPr id="20" name="Etapa Operación"/>
          <p:cNvSpPr/>
          <p:nvPr/>
        </p:nvSpPr>
        <p:spPr>
          <a:xfrm>
            <a:off x="8046719" y="1874519"/>
            <a:ext cx="3474720" cy="2880360"/>
          </a:xfrm>
          <a:prstGeom prst="roundRect">
            <a:avLst>
              <a:gd name="adj" fmla="val 6000"/>
            </a:avLst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1031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1FAEE"/>
                </a:solidFill>
                <a:latin typeface="Arial"/>
              </a:rPr>
              <a:t>Operación</a:t>
            </a:r>
          </a:p>
        </p:txBody>
      </p:sp>
      <p:sp>
        <p:nvSpPr>
          <p:cNvPr id="22" name="Marcador tornado"/>
          <p:cNvSpPr/>
          <p:nvPr/>
        </p:nvSpPr>
        <p:spPr>
          <a:xfrm>
            <a:off x="8339327" y="2788920"/>
            <a:ext cx="164592" cy="141549"/>
          </a:xfrm>
          <a:prstGeom prst="triangle">
            <a:avLst/>
          </a:prstGeom>
          <a:solidFill>
            <a:srgbClr val="E63946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2724912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DCEBEA"/>
                </a:solidFill>
                <a:latin typeface="Calibri"/>
              </a:rPr>
              <a:t>Corrida sobre pronósticos de IA</a:t>
            </a:r>
          </a:p>
        </p:txBody>
      </p:sp>
      <p:sp>
        <p:nvSpPr>
          <p:cNvPr id="24" name="Marcador tornado"/>
          <p:cNvSpPr/>
          <p:nvPr/>
        </p:nvSpPr>
        <p:spPr>
          <a:xfrm>
            <a:off x="8339327" y="3355848"/>
            <a:ext cx="164592" cy="141549"/>
          </a:xfrm>
          <a:prstGeom prst="triangle">
            <a:avLst/>
          </a:prstGeom>
          <a:solidFill>
            <a:srgbClr val="E63946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329184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DCEBEA"/>
                </a:solidFill>
                <a:latin typeface="Calibri"/>
              </a:rPr>
              <a:t>Mapa de riesgo para ubicar radares</a:t>
            </a:r>
          </a:p>
        </p:txBody>
      </p:sp>
      <p:sp>
        <p:nvSpPr>
          <p:cNvPr id="26" name="Marcador tornado"/>
          <p:cNvSpPr/>
          <p:nvPr/>
        </p:nvSpPr>
        <p:spPr>
          <a:xfrm>
            <a:off x="8339327" y="3922776"/>
            <a:ext cx="164592" cy="141549"/>
          </a:xfrm>
          <a:prstGeom prst="triangle">
            <a:avLst/>
          </a:prstGeom>
          <a:solidFill>
            <a:srgbClr val="E63946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1080" y="3858768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DCEBEA"/>
                </a:solidFill>
                <a:latin typeface="Calibri"/>
              </a:rPr>
              <a:t>Integración con DMC y Senapred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1FAEE"/>
                </a:solidFill>
                <a:latin typeface="Calibri"/>
              </a:rPr>
              <a:t>Lo que pedimos: </a:t>
            </a:r>
            <a:r>
              <a:rPr sz="1600" b="0" i="0">
                <a:solidFill>
                  <a:srgbClr val="C9D6DA"/>
                </a:solidFill>
                <a:latin typeface="Calibri"/>
              </a:rPr>
              <a:t>una temporada de piloto con el CR2 para validar el motor nuevo en 2024–2025 y revisar en terreno los días con puntaje alto y sin reporte.</a:t>
            </a:r>
          </a:p>
        </p:txBody>
      </p:sp>
      <p:sp>
        <p:nvSpPr>
          <p:cNvPr id="29" name="Pie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A3AE"/>
                </a:solidFill>
                <a:latin typeface="Calibri"/>
              </a:rPr>
              <a:t>Vórtice · Breaking Barriers Chile 2026 · desafío CR2</a:t>
            </a:r>
          </a:p>
        </p:txBody>
      </p:sp>
      <p:sp>
        <p:nvSpPr>
          <p:cNvPr id="30" name="Número"/>
          <p:cNvSpPr txBox="1"/>
          <p:nvPr/>
        </p:nvSpPr>
        <p:spPr>
          <a:xfrm>
            <a:off x="10972800" y="6400800"/>
            <a:ext cx="667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FA3A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Vórtice · pitch</dc:title>
  <dc:subject/>
  <dc:creator>Equipo Vórtice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