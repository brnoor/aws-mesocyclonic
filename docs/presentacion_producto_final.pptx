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C2633"/>
                </a:solidFill>
                <a:latin typeface="Calibri"/>
              </a:rPr>
              <a:t>Días de alerta por tornado detectado (meta ≤ 2)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Días de alerta por tornado detectado</c:v>
                </c:pt>
              </c:strCache>
            </c:strRef>
          </c:tx>
          <c:dPt>
            <c:idx val="0"/>
            <c:spPr>
              <a:solidFill>
                <a:srgbClr val="C9D6E0"/>
              </a:solidFill>
            </c:spPr>
          </c:dPt>
          <c:dPt>
            <c:idx val="1"/>
            <c:spPr>
              <a:solidFill>
                <a:srgbClr val="C9D6E0"/>
              </a:solidFill>
            </c:spPr>
          </c:dPt>
          <c:dPt>
            <c:idx val="2"/>
            <c:spPr>
              <a:solidFill>
                <a:srgbClr val="F2A541"/>
              </a:solidFill>
            </c:spPr>
          </c:dPt>
          <c:dPt>
            <c:idx val="3"/>
            <c:spPr>
              <a:solidFill>
                <a:srgbClr val="C9D6E0"/>
              </a:solidFill>
            </c:spPr>
          </c:dPt>
          <c:dPt>
            <c:idx val="4"/>
            <c:spPr>
              <a:solidFill>
                <a:srgbClr val="C9D6E0"/>
              </a:solidFill>
            </c:spPr>
          </c:dPt>
          <c:cat>
            <c:strRef>
              <c:f>Sheet1!$A$2:$A$6</c:f>
              <c:strCache>
                <c:ptCount val="5"/>
                <c:pt idx="0">
                  <c:v>M0</c:v>
                </c:pt>
                <c:pt idx="1">
                  <c:v>M1</c:v>
                </c:pt>
                <c:pt idx="2">
                  <c:v>M2</c:v>
                </c:pt>
                <c:pt idx="3">
                  <c:v>M3</c:v>
                </c:pt>
                <c:pt idx="4">
                  <c:v>M4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8.21</c:v>
                </c:pt>
                <c:pt idx="1">
                  <c:v>6.83</c:v>
                </c:pt>
                <c:pt idx="2">
                  <c:v>2.5</c:v>
                </c:pt>
                <c:pt idx="3">
                  <c:v>2.63</c:v>
                </c:pt>
                <c:pt idx="4">
                  <c:v>2.76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1C26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0"/>
            </a:solidFill>
          </a:ln>
        </c:spPr>
        <c:txPr>
          <a:bodyPr/>
          <a:lstStyle/>
          <a:p>
            <a:pPr>
              <a:defRPr sz="1200">
                <a:solidFill>
                  <a:srgbClr val="1C26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B6B7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C2633"/>
                </a:solidFill>
                <a:latin typeface="Calibri"/>
              </a:rPr>
              <a:t>Alertas emitidas por año (celdas-día)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M1 · regla física</c:v>
                </c:pt>
              </c:strCache>
            </c:strRef>
          </c:tx>
          <c:spPr>
            <a:solidFill>
              <a:srgbClr val="C9D6E0"/>
            </a:solidFill>
          </c:spPr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512</c:v>
                </c:pt>
                <c:pt idx="1">
                  <c:v>404</c:v>
                </c:pt>
                <c:pt idx="2">
                  <c:v>509</c:v>
                </c:pt>
                <c:pt idx="3">
                  <c:v>569</c:v>
                </c:pt>
                <c:pt idx="4">
                  <c:v>512</c:v>
                </c:pt>
                <c:pt idx="5">
                  <c:v>762</c:v>
                </c:pt>
                <c:pt idx="6">
                  <c:v>516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M2 · elegido</c:v>
                </c:pt>
              </c:strCache>
            </c:strRef>
          </c:tx>
          <c:spPr>
            <a:solidFill>
              <a:srgbClr val="F2A541"/>
            </a:solidFill>
          </c:spPr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25</c:v>
                </c:pt>
                <c:pt idx="1">
                  <c:v>116</c:v>
                </c:pt>
                <c:pt idx="2">
                  <c:v>81</c:v>
                </c:pt>
                <c:pt idx="3">
                  <c:v>42</c:v>
                </c:pt>
                <c:pt idx="4">
                  <c:v>46</c:v>
                </c:pt>
                <c:pt idx="5">
                  <c:v>125</c:v>
                </c:pt>
                <c:pt idx="6">
                  <c:v>91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C26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0"/>
            </a:solidFill>
          </a:ln>
        </c:spPr>
        <c:txPr>
          <a:bodyPr/>
          <a:lstStyle/>
          <a:p>
            <a:pPr>
              <a:defRPr sz="1200">
                <a:solidFill>
                  <a:srgbClr val="1C26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B6B7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1C2633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producto final. Completar nombres del equipo y fecha de la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Catálogo figshare (Bastías-Curivil et al.), 102 eventos 1554–2025. Brote del 30–31 de mayo de 2019: al menos 7 tornados en 24 h entre 36° y 38°S. Sin red de radar Doppler, un tornado existe solo si alguien lo ve y lo reporta.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umbrales norteamericanos (STP ≥ 1) no habrían señalado el brote de 2019. Los criterios chilenos vienen de Vicencio et al. (2021) y Marín et al.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producto que entregamos al CR2: candidatos celda 1° × día UTC con puntaje e índices físicos que lo explican, más la medición de cuánta anticipación conserva el modelo (objetivo O7) con cortes temporales. El visor permite mirar cada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Definición de docs/claude/tornados-contexto.md: «Entregamos al CR2 una lista ordenada de candidatos a tornado en Chile para 2026». El desafío de la hackathon (docs/mesociclones_chile.md) es más amplio: predecir qué tormentas desarrollan un mesociclón con ERA5 y GOES. Nuestro producto es una versión acotada: tornados del catálogo en vez de mesociclones confirmados, y por ahora solo ERA5.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ERA5 de NSF NCAR en us-west-2 (era5-pds está deprecado y no tiene niveles de presión). GOES-East: goes16 hasta abril 2025, goes19 desde entonces. Catálogo xlsx de figshare.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 3 del documento: A temperatura y geopotencial 500 hPa; B viento 850 hPa; C cizalle 0–1 km; D cizalle 0–6 km. El caso 2019 es de desarrollo, no prueba ciega.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EC2 c6g.8xlarge Graviton2 (arm64), 32 vCPU, 64 GiB, disco gp3 de 40 GiB, us-east-1. Acceso sin SSH, por SSM Session Manager; los pasos se ejecutan con deploy/ssm_run.ps1 y deploy/steps/*.sh. El visor corre en Docker (puerto 8501) detrás de una CloudFront nueva creada con Terraform (deploy/main.tf). SageMaker queda documentado como alternativa para cuadernos (docs/sagemaker.md).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paso es un script de scripts/model/ con argparse, salta lo que existe y registra la versión de configuración (1.0.0, semilla 20260115).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SHERBE se aproxima con la cizalle 0–6 km en lugar de ESHR (no hay humedad en altura). log1p para CAPE y VGP. Contexto: mes y banda de latitud de 2° (usado por M0).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Pocos positivos (42 en 2018–2024): modelos simples y regularizados, todo con scikit-learn. M5 (filtro de rayos GLM) es opcional y quedó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Validación cruzada año-fuera 2018–2024, 42 eventos. M2: POD 30/42 = 71 %, 537 alertas frente a 3953 de M1; 2,5 días de alerta por tornado detectado frente a 6,8; PR-AUC 0,026 frente a 0,003 (≈9×). El FAR se mide sobre días de evento y control, por lo que sobrestima el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data/outputs/cv_by_fold.csv, corte «día». Cada año se evalúa con un modelo entrenado sin ese año. Con 2 a 10 eventos por año, el POD anual varía mucho; 2022 es el peor año de M2 (1 de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datos solo hasta las 12 UTC, M2 baja a 29/42 = 69 % de POD y queda fuera de la regla (POD ≥ 70 %). La regla fijada antes elige M1. Es un resultado honesto: con la anticipación se pierde habilidad, y M2 queda al borde.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entrenado con 2018–2024 y aplicado una vez a abril–septiembre de 2025 con el umbral de la validación cruzada (data/outputs/blind_2025_*.csv). En 2025 la temporada tiene solo 2 eventos en el catálogo: el resultado es coherente con la validación, pero no tiene poder estadístico.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Metas de la presentación de la primera sesión: POD ≥ 70 %, FAR ≤ 50 %, ≤ 2 días de alerta por tornado detectado. Cifras de validación cruzada, corte «día», modelo M2. La prueba ciega 2025 sostiene el POD (2/2) pero no los días por detección (4,5), con solo 2 eventos.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M2 reentrenado con 2018–2025 y aplicado a abril–julio de 2026, el período con ERA5 disponible (hasta el 31 de julio). Fuente: data/outputs/resumen_pitch.md. Varios de los candidatos con mayor puntaje están cerca de la cordillera (−70,5° y −71,5°): conviene revisarlos, porque sobre los Andes los índices de niveles bajos pueden tener artefactos.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Prototipo exploratorio sobre 3 días (30 y 31 de mayo de 2019 y un control 15-feb-2019), celda-hora 0,25°, HistGradientBoosting, CV por evento (3 pliegues). AUC-PR 0,087 con tasa base 0,00083. Detalle en docs/resultados_modelo.md.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Visor Streamlit en scripts/viewer/. Páginas: Problema, Datos, Caso de estudio, Mapas, Starter kit y Referencias. Desplegado en Docker sobre la EC2 con CloudFront. Integrar la capa de puntaje del modelo (model_score) como producto es una tarea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Cifras de data/outputs (validación año-fuera 2018–2024, prueba ciega 2025 y puntaje 2026). Los errores salen de revisar scripts/model: cv.py:141-151 (bootstrap), model_selection.yaml frente a common.py:62 (dominio), features.py:56-65 (sin máscara de terreno), indices.py:68 (SHERBE = SHERBS3) y models.py:130/164 (C fijo). El plan de corrección está en docs/claude/prompt_mejora_modelos.md.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 están hechos: prueba ciega 2025, puntaje 2026 (abril–julio) y resumen_pitch.md. Ojo: resumen_pitch.md repite la fila de M1 en el corte 12utc porque el elegido es 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Mensajes de cierre. Contacto del referente científico: Roberto Rondanelli (CR2).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nado_los_angeles.png"/>
          <p:cNvPicPr>
            <a:picLocks noChangeAspect="1"/>
          </p:cNvPicPr>
          <p:nvPr/>
        </p:nvPicPr>
        <p:blipFill>
          <a:blip r:embed="rId2"/>
          <a:srcRect l="21172" r="21172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3152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HACKATHON BREAKING BARRIERS · CR2 ·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Encontrar las tormentas que nadie vio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9D6E0"/>
                </a:solidFill>
                <a:latin typeface="Calibri"/>
              </a:rPr>
              <a:t>Detección y anticipación de tormentas mesociclónicas y tornados en Chile con ERA5, GOES y aprendizaje automático en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Producto final y cómo lo abordamos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Equipo e integrantes: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5468112"/>
            <a:ext cx="928115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64465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Tornado de Los Ángeles, Biobío · 30 de mayo de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En Chile hay tornados, pero casi nadie los 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06040" cy="251460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2A541"/>
                </a:solidFill>
                <a:latin typeface="Cambria"/>
              </a:rPr>
              <a:t>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8892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tornados y trombas catalogados entre 1554 y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691640"/>
            <a:ext cx="2606040" cy="251460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288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2A541"/>
                </a:solidFill>
                <a:latin typeface="Cambria"/>
              </a:rPr>
              <a:t>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78892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 ellos desde 2015: el registro crece con los celulares, no necesariamente los tornados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91640"/>
            <a:ext cx="2606040" cy="251460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288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2A541"/>
                </a:solidFill>
                <a:latin typeface="Cambria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78892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tornados en 24 horas en el Biobío, 30–31 de mayo de 2019 (EF1–EF2)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691640"/>
            <a:ext cx="2606040" cy="251460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18288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2A541"/>
                </a:solidFill>
                <a:latin typeface="Cambr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278892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radares meteorológicos operacionales en 2019: sin radar, nadie ve girar la tormenta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C2633"/>
                </a:solidFill>
                <a:latin typeface="Cambria"/>
              </a:rPr>
              <a:t>Lo que dejó el brote de 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600" b="0" i="0">
                <a:solidFill>
                  <a:srgbClr val="1C2633"/>
                </a:solidFill>
                <a:latin typeface="Calibri"/>
              </a:rPr>
              <a:t>1 persona fallecida y decenas de heridos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600" b="0" i="0">
                <a:solidFill>
                  <a:srgbClr val="1C2633"/>
                </a:solidFill>
                <a:latin typeface="Calibri"/>
              </a:rPr>
              <a:t>~500 viviendas dañadas en el Gran Concepción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029200"/>
            <a:ext cx="5303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600" b="0" i="0">
                <a:solidFill>
                  <a:srgbClr val="1C2633"/>
                </a:solidFill>
                <a:latin typeface="Calibri"/>
              </a:rPr>
              <a:t>~50.000 clientes sin electricidad en Talcahuano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600" b="0" i="0">
                <a:solidFill>
                  <a:srgbClr val="1C2633"/>
                </a:solidFill>
                <a:latin typeface="Calibri"/>
              </a:rPr>
              <a:t>El catálogo solo tiene positivos: no hay «días sin tornado» confirmados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POR QUÉ ES DIFÍCIL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Chile no es Oklahoma: el régimen de alta cizalle y bajo 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5852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94560"/>
                <a:gridCol w="17373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Parámetro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Brote 2019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Lectura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MUCAPE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200 – 1.000 J/kg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Cizalle 0–1 km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12 – 20 m/s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Cizalle 0–6 km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18 – 21 m/s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SRH 0–1 km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−100 a −250 m²/s²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Negativa (sur)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Altura del LCL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&lt; 650 – 713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Muy baja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Fuente: docs/mesociclones_chile.md, sección 3.2.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873752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49440" y="1874520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C2633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85623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libri"/>
              </a:rPr>
              <a:t>Signos invertidos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221992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En el hemisferio sur la SRH y el STP tornádicos son negativos; las supercélulas favorecidas son left-movers. Usamos neg_stp = −STP y neg_srh01 = −SRH₀₋₁.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246120"/>
            <a:ext cx="4873752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0" y="3429000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C2633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107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libri"/>
              </a:rPr>
              <a:t>Umbrales locales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776472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Vara física de comparación (Marín et al. 2024): alerta si STP ≤ −0,3 o SHERBE ≥ 1. VGP₀₋₁ &gt; 0,1 m/s² en los días tornádicos.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800600"/>
            <a:ext cx="4873752" cy="13716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4983480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C2633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9651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libri"/>
              </a:rPr>
              <a:t>Etiquetas incompletas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5330952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Solo hay positivos y con sesgo de reporte: población, hora y año. Planteamos el problema como positivos + no etiquetados (PU).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EL PRODUCTO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Una lista priorizada de candidatos a tornado, explicada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38728" cy="32918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92024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C2633"/>
                </a:solidFill>
                <a:latin typeface="Cambria"/>
              </a:rPr>
              <a:t>Candidatos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6324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10.980 celdas-día de abril a julio puntuadas con M2: 285 alertas, cada una con las tres variables que más contribuyen.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4805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F7D8C"/>
                </a:solidFill>
                <a:latin typeface="Courier New"/>
              </a:rPr>
              <a:t>candidatos_2026_&lt;corte&gt;.csv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538728" cy="32918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1" y="192024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560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C2633"/>
                </a:solidFill>
                <a:latin typeface="Cambria"/>
              </a:rPr>
              <a:t>Anticipación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306324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El mismo sistema con datos hasta las 23 UTC (corte «día») o solo hasta las 12 UTC (corte «12utc») mide cuánta habilidad queda al adelantarse.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44805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F7D8C"/>
                </a:solidFill>
                <a:latin typeface="Courier New"/>
              </a:rPr>
              <a:t>decision_&lt;corte&gt;.md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691640"/>
            <a:ext cx="3538728" cy="32918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75904" y="192024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560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C2633"/>
                </a:solidFill>
                <a:latin typeface="Cambria"/>
              </a:rPr>
              <a:t>Visor y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06324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Visor Streamlit con datos, caso 2019 y mapas, más una app de resultados con modelos, prueba ciega y mapa de candidatos.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44805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F7D8C"/>
                </a:solidFill>
                <a:latin typeface="Courier New"/>
              </a:rPr>
              <a:t>app_resultados.py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30952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A541"/>
                </a:solidFill>
                <a:latin typeface="Calibri"/>
              </a:rPr>
              <a:t>Uso: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diagnóstico y búsqueda en el archivo histórico de eventos sin reporte. No es un pronóstico operativo: ERA5 es un reanálisis con ~5 días de latencia y el puntaje no es una probabilidad calibrada.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NUESTRO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Qué entregamos al CR2 y para qué sirve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Una lista priorizada de días y lugares de Chile con condiciones favorables para tornados, </a:t>
            </a:r>
            <a:r>
              <a:rPr sz="1800" b="1" i="0">
                <a:solidFill>
                  <a:srgbClr val="F2A541"/>
                </a:solidFill>
                <a:latin typeface="Calibri"/>
              </a:rPr>
              <a:t>cada uno con su puntaje y los índices físicos que lo explican.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3090672"/>
            <a:ext cx="384048" cy="38404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C2633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9067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2633"/>
                </a:solidFill>
                <a:latin typeface="Calibri"/>
              </a:rPr>
              <a:t>Candidatos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Calibri"/>
              </a:rPr>
              <a:t>Celda de 1° × día UTC, abril–septiembre, ~30°–43,5°S: puntaje, alerta y las 3 variables que más pesan.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29260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93592" y="3090672"/>
            <a:ext cx="384048" cy="38404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C2633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309067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2633"/>
                </a:solidFill>
                <a:latin typeface="Calibri"/>
              </a:rPr>
              <a:t>Anticipación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61188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Calibri"/>
              </a:rPr>
              <a:t>El mismo sistema con datos de todo el día y solo hasta las 12 UTC (O7).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9260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9944" y="3090672"/>
            <a:ext cx="384048" cy="38404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C2633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309067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2633"/>
                </a:solidFill>
                <a:latin typeface="Calibri"/>
              </a:rPr>
              <a:t>Evaluación honesta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61188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Calibri"/>
              </a:rPr>
              <a:t>Cinco modelos contra la regla de Marín et al. (2024), regla fijada antes, año fuera y prueba ciega 2025.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29260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26296" y="3090672"/>
            <a:ext cx="384048" cy="38404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C2633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9216" y="3090672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2633"/>
                </a:solidFill>
                <a:latin typeface="Calibri"/>
              </a:rPr>
              <a:t>Herramientas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61188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Calibri"/>
              </a:rPr>
              <a:t>Visor Streamlit, app de resultados y todo el flujo corriendo en una EC2 de AWS.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1014983" cy="274320"/>
          </a:xfrm>
          <a:prstGeom prst="roundRect">
            <a:avLst>
              <a:gd name="adj" fmla="val 50000"/>
            </a:avLst>
          </a:prstGeom>
          <a:solidFill>
            <a:srgbClr val="3C8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SIRVE PARA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3538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Revisar casos y buscar en el archivo histórico los tornados que nadie reportó: «las tormentas que nadie vio».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5029200"/>
            <a:ext cx="1275588" cy="274320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 SIRVE COMO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5394960"/>
            <a:ext cx="3538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Pronóstico operativo: ERA5 es un reanálisis con días de retraso y el puntaje no es una probabilidad calibrada.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5029200"/>
            <a:ext cx="1449324" cy="274320"/>
          </a:xfrm>
          <a:prstGeom prst="roundRect">
            <a:avLst>
              <a:gd name="adj" fmla="val 50000"/>
            </a:avLst>
          </a:prstGeom>
          <a:solidFill>
            <a:srgbClr val="2F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ALCANCE ACOTADO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5394960"/>
            <a:ext cx="3538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El desafío pide predecir mesociclones con ERA5 y GOES; usamos tornados del catálogo y, por ahora, solo ERA5.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Tres fuentes públicas: reanálisis, satélite y catálogo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38728" cy="3749039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2633"/>
                </a:solidFill>
                <a:latin typeface="Cambria"/>
              </a:rPr>
              <a:t>ERA5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F7D8C"/>
                </a:solidFill>
                <a:latin typeface="Courier New"/>
              </a:rPr>
              <a:t>s3://nsf-ncar-era5 · us-west-2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80360"/>
            <a:ext cx="30175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Reanálisis horario, 0,25°, desde 1940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Descargamos u, v, t, z en presión y 10u, 10v, 2t, 2d, sp, cape en superficie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~1,4 GB por archivo global: se recorta en memoria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Sin humedad en altura: SHERBE se aproxima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91640"/>
            <a:ext cx="3538728" cy="3749039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2633"/>
                </a:solidFill>
                <a:latin typeface="Cambria"/>
              </a:rPr>
              <a:t>GOES-East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3774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F7D8C"/>
                </a:solidFill>
                <a:latin typeface="Courier New"/>
              </a:rPr>
              <a:t>noaa-goes16 / 19 · us-east-1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880360"/>
            <a:ext cx="30175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16 bandas cada 10 min sobre Chile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Banda 13: temperatura de brillo del tope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Recortado y reproyectado a lat/lon para el visor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Sin corrección de paralaje (~21 km a 53°S)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91640"/>
            <a:ext cx="3538728" cy="3749039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2633"/>
                </a:solidFill>
                <a:latin typeface="Cambria"/>
              </a:rPr>
              <a:t>Catálogo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3774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F7D8C"/>
                </a:solidFill>
                <a:latin typeface="Courier New"/>
              </a:rPr>
              <a:t>figshare · CC BY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880360"/>
            <a:ext cx="30175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102 eventos (1554–2025), solo positivos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Tornado / tromba, EF, hora UTC (89 %)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Columna Register: confianza de la etiqueta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42 eventos en abr–sep de 2018–2024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CASO DE DESARROLLO · 30 DE MAYO DE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El entorno del brote reconstruido con ERA5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fig4_era5_20190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11091672" cy="39241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52946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2633"/>
                </a:solidFill>
                <a:latin typeface="Calibri"/>
              </a:rPr>
              <a:t>Lectura: </a:t>
            </a:r>
            <a:r>
              <a:rPr sz="1500" b="0" i="0">
                <a:solidFill>
                  <a:srgbClr val="5B6B7A"/>
                </a:solidFill>
                <a:latin typeface="Calibri"/>
              </a:rPr>
              <a:t>la cizalle de 0–6 km (D) es alta en casi todo el dominio y separa poco; la de 0–1 km (C) se concentra cerca de los eventos. Sobre los Andes el nivel de 1000 hPa queda bajo tierra: se enmascara o se usa el viento a 10 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ARQUITECTURA EN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Del bucket público al candidato, en una sola máquina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947672" cy="16916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mbria"/>
              </a:rPr>
              <a:t>S3 público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645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ERA5 (us-west-2)</a:t>
            </a:r>
          </a:p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GOES (us-east-1)</a:t>
            </a:r>
          </a:p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lectura anónima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2888" y="2487168"/>
            <a:ext cx="256032" cy="274320"/>
          </a:xfrm>
          <a:prstGeom prst="rightArrow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16352" y="1783080"/>
            <a:ext cx="1947672" cy="169164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9202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A541"/>
                </a:solidFill>
                <a:latin typeface="Cambria"/>
              </a:rPr>
              <a:t>EC2 Graviton2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423160"/>
            <a:ext cx="1645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c6g.8xlarge · 32 vCPU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64 GiB · arm64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acceso por SSM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0600" y="2487168"/>
            <a:ext cx="256032" cy="274320"/>
          </a:xfrm>
          <a:prstGeom prst="rightArrow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4064" y="1783080"/>
            <a:ext cx="1947672" cy="16916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19202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mbria"/>
              </a:rPr>
              <a:t>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423160"/>
            <a:ext cx="1645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download / process</a:t>
            </a:r>
          </a:p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recortes NetCDF</a:t>
            </a:r>
          </a:p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en data/crops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68312" y="2487168"/>
            <a:ext cx="256032" cy="274320"/>
          </a:xfrm>
          <a:prstGeom prst="rightArrow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51775" y="1783080"/>
            <a:ext cx="1947672" cy="169164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5" y="19202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A541"/>
                </a:solidFill>
                <a:latin typeface="Cambria"/>
              </a:rPr>
              <a:t>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5" y="2423160"/>
            <a:ext cx="1645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features → cv →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decide → train →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36024" y="2487168"/>
            <a:ext cx="256032" cy="274320"/>
          </a:xfrm>
          <a:prstGeom prst="rightArrow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19488" y="1783080"/>
            <a:ext cx="1947672" cy="16916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7" y="1920240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mbria"/>
              </a:rPr>
              <a:t>Salidas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2423160"/>
            <a:ext cx="1645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decisión, prueba</a:t>
            </a:r>
          </a:p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ciega, candidatos</a:t>
            </a:r>
          </a:p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en data/outputs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31920"/>
            <a:ext cx="3538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F7D8C"/>
                </a:solidFill>
                <a:latin typeface="Calibri"/>
              </a:rPr>
              <a:t>Visor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25112"/>
            <a:ext cx="35387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Docker en la misma EC2 (puerto 8501), publicado con una CloudFront propia; infraestructura en Terraform (deploy/main.tf).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931920"/>
            <a:ext cx="3538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F7D8C"/>
                </a:solidFill>
                <a:latin typeface="Calibri"/>
              </a:rPr>
              <a:t>Almacenamiento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2" y="4325112"/>
            <a:ext cx="35387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store.py trata disco local y S3 con la misma interfaz (MESO_DATA_ROOT); los crudos de presión se borran tras calcular índices.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3931920"/>
            <a:ext cx="3538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F7D8C"/>
                </a:solidFill>
                <a:latin typeface="Calibri"/>
              </a:rPr>
              <a:t>Restricción clave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4325112"/>
            <a:ext cx="35387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B7A"/>
                </a:solidFill>
                <a:latin typeface="Calibri"/>
              </a:rPr>
              <a:t>Disco de 40 GiB y ERA5 en otra región: la descarga cruza de us-west-2 a us-east-1 (más lenta y con costo).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235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Costo de cómputo y transferencia del proyecto: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60" y="5641848"/>
            <a:ext cx="928115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CÓMO SE ABORDÓ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Un flujo reproducible con la regla de decisión escrita 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9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16916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7D8C"/>
                </a:solidFill>
                <a:latin typeface="Courier New"/>
              </a:rPr>
              <a:t>plan_days.py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075688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2633"/>
                </a:solidFill>
                <a:latin typeface="Calibri"/>
              </a:rPr>
              <a:t>Días de evento 2018–2025, 200 días de control al azar (abr–sep) y temporadas 2025 y 2026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173736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916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7D8C"/>
                </a:solidFill>
                <a:latin typeface="Courier New"/>
              </a:rPr>
              <a:t>run_days.sh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75688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2633"/>
                </a:solidFill>
                <a:latin typeface="Calibri"/>
              </a:rPr>
              <a:t>Descarga ERA5 y calcula índices horarios australes por día, en paralelo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154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7D8C"/>
                </a:solidFill>
                <a:latin typeface="Courier New"/>
              </a:rPr>
              <a:t>indices.py + features.py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3538728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2633"/>
                </a:solidFill>
                <a:latin typeface="Calibri"/>
              </a:rPr>
              <a:t>Agrega a celda de 1° × día por corte temporal, sin usar horas posteriores a τ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54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7D8C"/>
                </a:solidFill>
                <a:latin typeface="Courier New"/>
              </a:rPr>
              <a:t>labels.py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538728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2633"/>
                </a:solidFill>
                <a:latin typeface="Calibri"/>
              </a:rPr>
              <a:t>y = 1 si un evento del catálogo cae en la celda y fecha UTC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617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7D8C"/>
                </a:solidFill>
                <a:latin typeface="Courier New"/>
              </a:rPr>
              <a:t>cv.py + decide.py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5001768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2633"/>
                </a:solidFill>
                <a:latin typeface="Calibri"/>
              </a:rPr>
              <a:t>Validación dejando un año fuera y elección con la regla fijada en el YAML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466344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617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7D8C"/>
                </a:solidFill>
                <a:latin typeface="Courier New"/>
              </a:rPr>
              <a:t>train.py + score.py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01768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2633"/>
                </a:solidFill>
                <a:latin typeface="Calibri"/>
              </a:rPr>
              <a:t>Prueba ciega 2025 una sola vez, reentreno y puntaje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5216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Configuración en scripts/model/config/model_selection.yaml · pruebas antifuga en tests/test_model_selection.py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Índices físicos australes, resumidos por celda y día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6766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  <a:gridCol w="12801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Índice horario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mide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Favorable si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neg_stp = −STP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Significant Tornado Parameter, rama left-mover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&gt; 0,3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sherbe_aprox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Severidad con poca flotabilidad (HSLC)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&gt; 1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sherbs3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Variante con cizalle 0–3 km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&gt;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vgp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Generación de vorticidad 0–1 km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&gt; 0,1 m/s²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neg_srh01 = −SRH₀₋₁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Helicidad relativa a la tormenta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bwd06, cape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Cizalle 0–6 km y energía convectiva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69164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633"/>
                </a:solidFill>
                <a:latin typeface="Cambria"/>
              </a:rPr>
              <a:t>Cuatro agregados por índice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286000"/>
            <a:ext cx="3959352" cy="73152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28600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D8C"/>
                </a:solidFill>
                <a:latin typeface="Courier New"/>
              </a:rPr>
              <a:t>_max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228600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C2633"/>
                </a:solidFill>
                <a:latin typeface="Calibri"/>
              </a:rPr>
              <a:t>máximo horario en la ventana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154680"/>
            <a:ext cx="3959352" cy="73152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15468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D8C"/>
                </a:solidFill>
                <a:latin typeface="Courier New"/>
              </a:rPr>
              <a:t>_tend6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315468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C2633"/>
                </a:solidFill>
                <a:latin typeface="Calibri"/>
              </a:rPr>
              <a:t>mayor aumento en 6 horas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023360"/>
            <a:ext cx="3959352" cy="73152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02336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D8C"/>
                </a:solidFill>
                <a:latin typeface="Courier New"/>
              </a:rPr>
              <a:t>_pers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402336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C2633"/>
                </a:solidFill>
                <a:latin typeface="Calibri"/>
              </a:rPr>
              <a:t>horas sobre el umbral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4892040"/>
            <a:ext cx="3959352" cy="73152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89204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D8C"/>
                </a:solidFill>
                <a:latin typeface="Courier New"/>
              </a:rPr>
              <a:t>_max3x3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4892040"/>
            <a:ext cx="2286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C2633"/>
                </a:solidFill>
                <a:latin typeface="Calibri"/>
              </a:rPr>
              <a:t>máximo en la celda y sus 8 vecinas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2633"/>
                </a:solidFill>
                <a:latin typeface="Calibri"/>
              </a:rPr>
              <a:t>Cortes temporales: </a:t>
            </a:r>
            <a:r>
              <a:rPr sz="1500" b="0" i="0">
                <a:solidFill>
                  <a:srgbClr val="5B6B7A"/>
                </a:solidFill>
                <a:latin typeface="Calibri"/>
              </a:rPr>
              <a:t>«día» usa 00–23 UTC; «12utc» solo 00–12 UTC del mismo día. Una prueba verifica que cambiar horas posteriores al corte no altera las variables.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MODELOS CANDIDATOS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Cinco modelos, del más simple al más flexible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74980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10972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M0 · climatología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Frecuencia suavizada por mes × banda de latitud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mes, banda_lat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M1 · regla física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Alerta si −STP ≥ 0,3 o SHERBE ≥ 1 (Marín et al. 2024)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M2 · logística L2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Regresión logística penalizada, C por validación interna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M3 · splines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Logística sobre bases spline (4 nodos, grado 3)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M4 · boosting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Árboles poco profundos con restricción monótona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~15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M5 · filtro GLM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Elegido × presencia de rayos en la celda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opcional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086600" y="464515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9164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633"/>
                </a:solidFill>
                <a:latin typeface="Cambria"/>
              </a:rPr>
              <a:t>Protocolo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94560"/>
            <a:ext cx="32461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Validación dejando un año fuera, 2018–2024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Umbral: el más alto con POD ≥ 70 % en validación interna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Acierto tolerante: celda o vecinas, mismo día o el anterior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Bootstrap por fecha (1000 réplicas) contra M1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Regla: supera M0 en PR-AUC, FAR ≤ FAR(M1); el más simple a 1 EE del mejor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RESULTADOS · CORTE «DÍA»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M2 detecta lo mismo que la regla física con 86 % menos alertas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603504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03720" y="1691640"/>
          <a:ext cx="473659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60120"/>
                <a:gridCol w="868680"/>
                <a:gridCol w="1097280"/>
                <a:gridCol w="107899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POD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FAR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Alertas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M0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28/42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9.168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0,002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30/42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0,97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3.953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0,003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633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73152" marR="73152" marT="27432" marB="27432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633"/>
                          </a:solidFill>
                          <a:latin typeface="Calibri"/>
                        </a:rPr>
                        <a:t>30/42</a:t>
                      </a:r>
                    </a:p>
                  </a:txBody>
                  <a:tcPr marL="73152" marR="73152" marT="27432" marB="27432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633"/>
                          </a:solidFill>
                          <a:latin typeface="Calibri"/>
                        </a:rPr>
                        <a:t>0,84</a:t>
                      </a:r>
                    </a:p>
                  </a:txBody>
                  <a:tcPr marL="73152" marR="73152" marT="27432" marB="27432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633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27432" marB="27432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633"/>
                          </a:solidFill>
                          <a:latin typeface="Calibri"/>
                        </a:rPr>
                        <a:t>0,026</a:t>
                      </a:r>
                    </a:p>
                  </a:txBody>
                  <a:tcPr marL="73152" marR="73152" marT="27432" marB="27432" anchor="ctr">
                    <a:solidFill>
                      <a:srgbClr val="FDEBD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32/42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0,86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576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0,019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25/42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0,86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959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633"/>
                          </a:solidFill>
                          <a:latin typeface="Calibri"/>
                        </a:rPr>
                        <a:t>0,045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03720" y="4434840"/>
            <a:ext cx="4736592" cy="109728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4480560"/>
            <a:ext cx="4297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Modelo elegido: M2.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El FAR más bajo entre los elegibles y el más simple según la regla. M3 detecta 32/42 con un FAR parecido.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POD = eventos detectados / eventos. FAR = alertas sin evento cercano / alertas; se mide sobre días de evento y control, así que sobrestima el real.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RESULTADOS · AÑO A AÑO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M2 alerta mucho menos que la regla física todos los años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13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73152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6002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633"/>
                </a:solidFill>
                <a:latin typeface="Cambria"/>
              </a:rPr>
              <a:t>Eventos detectados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0" y="2057400"/>
          <a:ext cx="34107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77824"/>
                <a:gridCol w="832104"/>
                <a:gridCol w="83210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Eventos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Suma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26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5486400"/>
            <a:ext cx="3410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7A"/>
                </a:solidFill>
                <a:latin typeface="Calibri"/>
              </a:rPr>
              <a:t>La suma por año difiere del total agrupado (30/42), que junta las predicciones de todos los pliegues.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RESULTADOS · CORTE «12UTC»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Con medio día de datos, la regla física sigue siendo la elegida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6949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914400"/>
                <a:gridCol w="1463040"/>
                <a:gridCol w="1097280"/>
                <a:gridCol w="10972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POD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FAR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Días/detección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Alertas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M0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28/42 · 67 %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8,2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9.168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0,002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2633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73152" marR="73152" marT="27432" marB="27432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C2633"/>
                          </a:solidFill>
                          <a:latin typeface="Calibri"/>
                        </a:rPr>
                        <a:t>31/42 · 74 %</a:t>
                      </a:r>
                    </a:p>
                  </a:txBody>
                  <a:tcPr marL="73152" marR="73152" marT="27432" marB="27432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C2633"/>
                          </a:solidFill>
                          <a:latin typeface="Calibri"/>
                        </a:rPr>
                        <a:t>0,97</a:t>
                      </a:r>
                    </a:p>
                  </a:txBody>
                  <a:tcPr marL="73152" marR="73152" marT="27432" marB="27432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C2633"/>
                          </a:solidFill>
                          <a:latin typeface="Calibri"/>
                        </a:rPr>
                        <a:t>5,6</a:t>
                      </a:r>
                    </a:p>
                  </a:txBody>
                  <a:tcPr marL="73152" marR="73152" marT="27432" marB="27432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C2633"/>
                          </a:solidFill>
                          <a:latin typeface="Calibri"/>
                        </a:rPr>
                        <a:t>3.261</a:t>
                      </a:r>
                    </a:p>
                  </a:txBody>
                  <a:tcPr marL="73152" marR="73152" marT="27432" marB="27432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C2633"/>
                          </a:solidFill>
                          <a:latin typeface="Calibri"/>
                        </a:rPr>
                        <a:t>0,004</a:t>
                      </a:r>
                    </a:p>
                  </a:txBody>
                  <a:tcPr marL="73152" marR="73152" marT="27432" marB="27432" anchor="ctr">
                    <a:solidFill>
                      <a:srgbClr val="FDEBD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29/42 · 69 %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3,0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863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0,021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29/42 · 69 %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0,87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3,7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820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0,013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21/42 · 50 %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2,7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638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691640"/>
            <a:ext cx="3776472" cy="13258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801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7D8C"/>
                </a:solidFill>
                <a:latin typeface="Calibri"/>
              </a:rPr>
              <a:t>Elegido: 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148840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Ningún modelo cumple a la vez POD ≥ 70 % y FAR ≤ FAR(M1): la regla escrita antes de validar elige la regla física.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172968"/>
            <a:ext cx="3776472" cy="13258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32826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7D8C"/>
                </a:solidFill>
                <a:latin typeface="Calibri"/>
              </a:rPr>
              <a:t>M2 queda al borde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630168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A un evento de la meta (29 de 42) con un cuarto de las alertas de M1 y 3 días por detección en vez de 5,6.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654296"/>
            <a:ext cx="3776472" cy="13258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476402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7D8C"/>
                </a:solidFill>
                <a:latin typeface="Calibri"/>
              </a:rPr>
              <a:t>Lo que dice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5111496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Adelantar el corte 11 horas cuesta habilidad, pero no la elimina: la PR-AUC de M2 sigue siendo ~6× la de la regla.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6949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C2633"/>
                </a:solidFill>
                <a:latin typeface="Calibri"/>
              </a:rPr>
              <a:t>Curva de habilidad versus anticipación </a:t>
            </a:r>
            <a:r>
              <a:rPr sz="1400" b="0" i="0">
                <a:solidFill>
                  <a:srgbClr val="5B6B7A"/>
                </a:solidFill>
                <a:latin typeface="Calibri"/>
              </a:rPr>
              <a:t>(cortes 00utc y evento − 6/12 h):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928115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PRUEBA CIEGA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Una sola evaluación, sin reajustar 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CORTE «DÍA» · 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2 de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004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eventos detectados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9476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79476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Calibri"/>
              </a:rPr>
              <a:t>83 %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34340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Días por detección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4340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Calibri"/>
              </a:rPr>
              <a:t>4,5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8920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Alertas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89204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Calibri"/>
              </a:rPr>
              <a:t>64 en 9 días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69164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87451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D6E0"/>
                </a:solidFill>
                <a:latin typeface="Calibri"/>
              </a:rPr>
              <a:t>CORTE «12UTC» · 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28600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1 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2004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eventos detectados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79476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FAR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19" y="379476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Calibri"/>
              </a:rPr>
              <a:t>99 %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34340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Días por detección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19" y="434340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8920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Alertas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19" y="489204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Calibri"/>
              </a:rPr>
              <a:t>290 en 21 días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1691640"/>
            <a:ext cx="3136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633"/>
                </a:solidFill>
                <a:latin typeface="Cambria"/>
              </a:rPr>
              <a:t>Cómo leerla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194560"/>
            <a:ext cx="3136392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Con todo el día, M2 detectó los dos eventos de 2025 con 64 alertas concentradas en 9 días.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Con datos hasta las 12 UTC, la regla física perdió un evento y alertó 21 días.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 i="0">
                <a:solidFill>
                  <a:srgbClr val="1C2633"/>
                </a:solidFill>
                <a:latin typeface="Calibri"/>
              </a:rPr>
              <a:t>Solo 2 eventos: confirma la dirección de la validación, no la mide con precisión.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Fuente: data/outputs/blind_2025_dia.csv y blind_2025_12utc.csv · umbrales 0,934 (M2) y 1,075 (M1).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METAS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Dónde estamos frente a las metas comprometidas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9D6E0"/>
                </a:solidFill>
                <a:latin typeface="Calibri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38728" cy="3566160"/>
          </a:xfrm>
          <a:prstGeom prst="roundRect">
            <a:avLst>
              <a:gd name="adj" fmla="val 8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D6E0"/>
                </a:solidFill>
                <a:latin typeface="Calibri"/>
              </a:rPr>
              <a:t>POD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71 %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30 de 42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1605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Meta ≥ 70 %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4663440"/>
            <a:ext cx="667512" cy="274320"/>
          </a:xfrm>
          <a:prstGeom prst="roundRect">
            <a:avLst>
              <a:gd name="adj" fmla="val 50000"/>
            </a:avLst>
          </a:prstGeom>
          <a:solidFill>
            <a:srgbClr val="3C8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CUMPLE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3538728" cy="3566160"/>
          </a:xfrm>
          <a:prstGeom prst="roundRect">
            <a:avLst>
              <a:gd name="adj" fmla="val 8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874519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D6E0"/>
                </a:solidFill>
                <a:latin typeface="Calibri"/>
              </a:rPr>
              <a:t>FAR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28600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84 %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sobrestimado: control sin etiqueta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41605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Meta ≤ 50 %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9431" y="4663440"/>
            <a:ext cx="928115" cy="274320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 CUMPLE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691640"/>
            <a:ext cx="3538728" cy="3566160"/>
          </a:xfrm>
          <a:prstGeom prst="roundRect">
            <a:avLst>
              <a:gd name="adj" fmla="val 8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1874519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D6E0"/>
                </a:solidFill>
                <a:latin typeface="Calibri"/>
              </a:rPr>
              <a:t>DÍAS POR DETECCIÓN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28600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2,5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frente a 6,8 de la regla física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41605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Meta ≤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75904" y="4663440"/>
            <a:ext cx="580644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CERCA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Validación cruzada 2018–2024, corte «día», modelo M2.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Prueba ciega 2025: </a:t>
            </a:r>
            <a:r>
              <a:rPr sz="1400" b="0" i="0">
                <a:solidFill>
                  <a:srgbClr val="C9D6E0"/>
                </a:solidFill>
                <a:latin typeface="Calibri"/>
              </a:rPr>
              <a:t>2 de 2 eventos, FAR 83 %, 4,5 días por detección.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CANDIDATOS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285 celdas-día en alerta entre abril y julio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F7D8C"/>
                </a:solidFill>
                <a:latin typeface="Cambria"/>
              </a:rPr>
              <a:t>10.980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celdas-día puntuadas (abril–julio)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F7D8C"/>
                </a:solidFill>
                <a:latin typeface="Cambria"/>
              </a:rPr>
              <a:t>285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alertas del modelo M2 (corte «día»)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F7D8C"/>
                </a:solidFill>
                <a:latin typeface="Cambria"/>
              </a:rPr>
              <a:t>31-jul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último día con ERA5 disponible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91640"/>
            <a:ext cx="7406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633"/>
                </a:solidFill>
                <a:latin typeface="Cambria"/>
              </a:rPr>
              <a:t>Los cinco candidatos con mayor puntaje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6240" y="2194560"/>
          <a:ext cx="743407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737360"/>
                <a:gridCol w="1737360"/>
                <a:gridCol w="176479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Latitud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Longitud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Puntaje</a:t>
                      </a:r>
                    </a:p>
                  </a:txBody>
                  <a:tcPr marL="73152" marR="73152" marT="27432" marB="27432" anchor="ctr">
                    <a:solidFill>
                      <a:srgbClr val="1C263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17-jul-2026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−31,5°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−70,5°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26-jul-2026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−39,5°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−71,5°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0,999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18-jul-2026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−31,5°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−70,5°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0,999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21-jul-2026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−30,5°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−71,5°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0,999</a:t>
                      </a:r>
                    </a:p>
                  </a:txBody>
                  <a:tcPr marL="73152" marR="73152" marT="27432" marB="27432" anchor="ctr">
                    <a:solidFill>
                      <a:srgbClr val="EEF2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18-jul-2026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−36,5°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−71,5°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2633"/>
                          </a:solidFill>
                          <a:latin typeface="Calibri"/>
                        </a:rPr>
                        <a:t>0,999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206240" y="4846320"/>
            <a:ext cx="7434072" cy="9144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4846320"/>
            <a:ext cx="7132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C2633"/>
                </a:solidFill>
                <a:latin typeface="Calibri"/>
              </a:rPr>
              <a:t>Por revisar: </a:t>
            </a:r>
            <a:r>
              <a:rPr sz="1400" b="0" i="0">
                <a:solidFill>
                  <a:srgbClr val="5B6B7A"/>
                </a:solidFill>
                <a:latin typeface="Calibri"/>
              </a:rPr>
              <a:t>varios de los primeros están cerca de la cordillera, donde los índices de niveles bajos pueden tener artefactos.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8978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Agosto y septiembre: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5916168"/>
            <a:ext cx="928115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PRIMER PROTOTIPO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Antes de la selección: el modelo aprendió física razonable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F7D8C"/>
                </a:solidFill>
                <a:latin typeface="Cambria"/>
              </a:rPr>
              <a:t>0,087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AUC-PR con tasa base 0,0008: ~100× el azar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F7D8C"/>
                </a:solidFill>
                <a:latin typeface="Cambria"/>
              </a:rPr>
              <a:t>198/249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celdas-hora positivas detectadas (POD 0,80)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F7D8C"/>
                </a:solidFill>
                <a:latin typeface="Cambria"/>
              </a:rPr>
              <a:t>3,3×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puntaje medio del brote frente al día de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91640"/>
            <a:ext cx="7406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633"/>
                </a:solidFill>
                <a:latin typeface="Cambria"/>
              </a:rPr>
              <a:t>Variables que más pesaron (permutación)</a:t>
            </a:r>
          </a:p>
        </p:txBody>
      </p:sp>
      <p:sp>
        <p:nvSpPr>
          <p:cNvPr id="12" name="Oval 11"/>
          <p:cNvSpPr/>
          <p:nvPr/>
        </p:nvSpPr>
        <p:spPr>
          <a:xfrm>
            <a:off x="4206240" y="2240280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C2633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24028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D8C"/>
                </a:solidFill>
                <a:latin typeface="Courier New"/>
              </a:rPr>
              <a:t>gamma_03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4937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2633"/>
                </a:solidFill>
                <a:latin typeface="Calibri"/>
              </a:rPr>
              <a:t>gradiente térmico 0–3 km</a:t>
            </a:r>
          </a:p>
        </p:txBody>
      </p:sp>
      <p:sp>
        <p:nvSpPr>
          <p:cNvPr id="15" name="Oval 14"/>
          <p:cNvSpPr/>
          <p:nvPr/>
        </p:nvSpPr>
        <p:spPr>
          <a:xfrm>
            <a:off x="4206240" y="2862072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C2633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862072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D8C"/>
                </a:solidFill>
                <a:latin typeface="Courier New"/>
              </a:rPr>
              <a:t>srh_01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62072"/>
            <a:ext cx="4937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2633"/>
                </a:solidFill>
                <a:latin typeface="Calibri"/>
              </a:rPr>
              <a:t>helicidad 0–1 km</a:t>
            </a:r>
          </a:p>
        </p:txBody>
      </p:sp>
      <p:sp>
        <p:nvSpPr>
          <p:cNvPr id="18" name="Oval 17"/>
          <p:cNvSpPr/>
          <p:nvPr/>
        </p:nvSpPr>
        <p:spPr>
          <a:xfrm>
            <a:off x="4206240" y="3483864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C2633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483864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D8C"/>
                </a:solidFill>
                <a:latin typeface="Courier New"/>
              </a:rPr>
              <a:t>shear_01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83864"/>
            <a:ext cx="4937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2633"/>
                </a:solidFill>
                <a:latin typeface="Calibri"/>
              </a:rPr>
              <a:t>cizalle 0–1 km</a:t>
            </a:r>
          </a:p>
        </p:txBody>
      </p:sp>
      <p:sp>
        <p:nvSpPr>
          <p:cNvPr id="21" name="Oval 20"/>
          <p:cNvSpPr/>
          <p:nvPr/>
        </p:nvSpPr>
        <p:spPr>
          <a:xfrm>
            <a:off x="4206240" y="4105656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C2633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105656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D8C"/>
                </a:solidFill>
                <a:latin typeface="Courier New"/>
              </a:rPr>
              <a:t>vgp_01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105656"/>
            <a:ext cx="4937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2633"/>
                </a:solidFill>
                <a:latin typeface="Calibri"/>
              </a:rPr>
              <a:t>generación de vorticidad</a:t>
            </a:r>
          </a:p>
        </p:txBody>
      </p:sp>
      <p:sp>
        <p:nvSpPr>
          <p:cNvPr id="24" name="Oval 23"/>
          <p:cNvSpPr/>
          <p:nvPr/>
        </p:nvSpPr>
        <p:spPr>
          <a:xfrm>
            <a:off x="4206240" y="4727448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C2633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727448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7D8C"/>
                </a:solidFill>
                <a:latin typeface="Courier New"/>
              </a:rPr>
              <a:t>lcl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727448"/>
            <a:ext cx="4937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2633"/>
                </a:solidFill>
                <a:latin typeface="Calibri"/>
              </a:rPr>
              <a:t>base de nube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5440680"/>
            <a:ext cx="7434072" cy="7772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5440680"/>
            <a:ext cx="7132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C2633"/>
                </a:solidFill>
                <a:latin typeface="Calibri"/>
              </a:rPr>
              <a:t>Son los índices de niveles bajos que la literatura destaca para el régimen HSLC austral. Los candidatos de mayor puntaje caen en el Biobío.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EL 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Para mirar cada caso con los datos detrás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19</a:t>
            </a:r>
          </a:p>
        </p:txBody>
      </p:sp>
      <p:pic>
        <p:nvPicPr>
          <p:cNvPr id="5" name="Picture 4" descr="fig3_goes_20190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583680" cy="35020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85177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7A"/>
                </a:solidFill>
                <a:latin typeface="Calibri"/>
              </a:rPr>
              <a:t>GOES-16 banda 13, 30 de mayo de 2019: tope frío y su cambio en 10 minutos.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4592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C2633"/>
                </a:solidFill>
                <a:latin typeface="Calibri"/>
              </a:rPr>
              <a:t>Problema</a:t>
            </a:r>
            <a:r>
              <a:rPr sz="1400" b="0" i="0">
                <a:solidFill>
                  <a:srgbClr val="5B6B7A"/>
                </a:solidFill>
                <a:latin typeface="Calibri"/>
              </a:rPr>
              <a:t>  ·  objetivo, criterio de éxito y tareas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212848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C2633"/>
                </a:solidFill>
                <a:latin typeface="Calibri"/>
              </a:rPr>
              <a:t>Datos</a:t>
            </a:r>
            <a:r>
              <a:rPr sz="1400" b="0" i="0">
                <a:solidFill>
                  <a:srgbClr val="5B6B7A"/>
                </a:solidFill>
                <a:latin typeface="Calibri"/>
              </a:rPr>
              <a:t>  ·  ERA5, GOES y catálogo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779776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C2633"/>
                </a:solidFill>
                <a:latin typeface="Calibri"/>
              </a:rPr>
              <a:t>Caso de estudio</a:t>
            </a:r>
            <a:r>
              <a:rPr sz="1400" b="0" i="0">
                <a:solidFill>
                  <a:srgbClr val="5B6B7A"/>
                </a:solidFill>
                <a:latin typeface="Calibri"/>
              </a:rPr>
              <a:t>  ·  el brote de 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34670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C2633"/>
                </a:solidFill>
                <a:latin typeface="Calibri"/>
              </a:rPr>
              <a:t>Mapas</a:t>
            </a:r>
            <a:r>
              <a:rPr sz="1400" b="0" i="0">
                <a:solidFill>
                  <a:srgbClr val="5B6B7A"/>
                </a:solidFill>
                <a:latin typeface="Calibri"/>
              </a:rPr>
              <a:t>  ·  índices ERA5 y bandas GOES por hora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913632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C2633"/>
                </a:solidFill>
                <a:latin typeface="Calibri"/>
              </a:rPr>
              <a:t>Starter kit</a:t>
            </a:r>
            <a:r>
              <a:rPr sz="1400" b="0" i="0">
                <a:solidFill>
                  <a:srgbClr val="5B6B7A"/>
                </a:solidFill>
                <a:latin typeface="Calibri"/>
              </a:rPr>
              <a:t>  ·  cómo levantar una EC2 en 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48056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C2633"/>
                </a:solidFill>
                <a:latin typeface="Calibri"/>
              </a:rPr>
              <a:t>Referencias</a:t>
            </a:r>
            <a:r>
              <a:rPr sz="1400" b="0" i="0">
                <a:solidFill>
                  <a:srgbClr val="5B6B7A"/>
                </a:solidFill>
                <a:latin typeface="Calibri"/>
              </a:rPr>
              <a:t>  ·  papers y fuentes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07492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633"/>
                </a:solidFill>
                <a:latin typeface="Calibri"/>
              </a:rPr>
              <a:t>App de resultados: </a:t>
            </a:r>
            <a:r>
              <a:rPr sz="1300" b="0" i="0">
                <a:solidFill>
                  <a:srgbClr val="5B6B7A"/>
                </a:solidFill>
                <a:latin typeface="Calibri"/>
              </a:rPr>
              <a:t>scripts/model/app_resultados.py, puerto 8502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7607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Puntaje en el visor principal: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577900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ESTADO DE LA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Lo que funciona y lo que la revisión del código encontró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633"/>
                </a:solidFill>
                <a:latin typeface="Cambria"/>
              </a:rPr>
              <a:t>Lo que ya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F7D8C"/>
                </a:solidFill>
                <a:latin typeface="Cambria"/>
              </a:rPr>
              <a:t>30/42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148840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eventos detectados por M2, los mismos que la regla física, con 86 % menos alertas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F7D8C"/>
                </a:solidFill>
                <a:latin typeface="Cambria"/>
              </a:rPr>
              <a:t>2 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136392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eventos de la prueba ciega 2025, sin reajustar nada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23944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F7D8C"/>
                </a:solidFill>
                <a:latin typeface="Cambria"/>
              </a:rPr>
              <a:t>285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123944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alertas en abril–julio de 2026, cada una explicada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11496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F7D8C"/>
                </a:solidFill>
                <a:latin typeface="Cambria"/>
              </a:rPr>
              <a:t>1 de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111496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633"/>
                </a:solidFill>
                <a:latin typeface="Calibri"/>
              </a:rPr>
              <a:t>metas cumplidas: detección sí; falsas alarmas (84 %) y días por tornado (2,5) 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5513832" cy="4526280"/>
          </a:xfrm>
          <a:prstGeom prst="roundRect">
            <a:avLst>
              <a:gd name="adj" fmla="val 8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A541"/>
                </a:solidFill>
                <a:latin typeface="Cambria"/>
              </a:rPr>
              <a:t>Errores detectados en la revisión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Candidatos en cordillera y bordes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6E0"/>
                </a:solidFill>
                <a:latin typeface="Calibri"/>
              </a:rPr>
              <a:t>el dominio pasa del recorte ERA5 y no hay máscara de terreno: los primeros de 2026 son probablemente artefactos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735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Bootstrap desalineado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93592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6E0"/>
                </a:solidFill>
                <a:latin typeface="Calibri"/>
              </a:rPr>
              <a:t>las diferencias contra M1 y su error estándar están mal calculadas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15383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M1 aproximada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35423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6E0"/>
                </a:solidFill>
                <a:latin typeface="Calibri"/>
              </a:rPr>
              <a:t>usa SHERBS3 con el umbral de SHERBE; no es la regla publicada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5721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M2 y M3 sin ajuste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77255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6E0"/>
                </a:solidFill>
                <a:latin typeface="Calibri"/>
              </a:rPr>
              <a:t>la regularización C quedó fija en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Calibri"/>
              </a:rPr>
              <a:t>Corrección (v2) en docs/claude/prompt_mejora_modelos.md: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6144768"/>
            <a:ext cx="928115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7D8C"/>
                </a:solidFill>
                <a:latin typeface="Calibri"/>
              </a:rPr>
              <a:t>PENDIENTES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633"/>
                </a:solidFill>
                <a:latin typeface="Cambria"/>
              </a:rPr>
              <a:t>Lo que falta para cerrar el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22392" cy="13258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libri"/>
              </a:rPr>
              <a:t>Agosto y septiembre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59" y="18745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2199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Puntuar el resto de la temporada cuando ERA5 los publique (hoy llega al 31 de julio).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422392" cy="13258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libri"/>
              </a:rPr>
              <a:t>Revisar candidatos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78440" y="18745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2199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Contrastar los de mayor puntaje con GOES y reportes; varios están cerca de la cordillera.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422392" cy="13258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337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libri"/>
              </a:rPr>
              <a:t>Curva de anticipación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33832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73075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Corte 00utc y evento − 6/12 h: cuánta habilidad queda al adelantarse.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00400"/>
            <a:ext cx="5422392" cy="13258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337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libri"/>
              </a:rPr>
              <a:t>Revisión antifuga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78440" y="33832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3075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Revisión independiente de cv_report.csv y decision_*.md antes de mostrar las cifras.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5422392" cy="13258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8463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libri"/>
              </a:rPr>
              <a:t>Extensiones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48920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23951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M5 con rayos GLM, variables GOES, corrección de paralaje, calibración PU y puntaje en el visor principal.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709160"/>
            <a:ext cx="5422392" cy="13258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8463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Calibri"/>
              </a:rPr>
              <a:t>Datos del equipo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48920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C2633"/>
                </a:solidFill>
                <a:latin typeface="Calibri"/>
              </a:rPr>
              <a:t>PENDIENTE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3951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Integrantes, contacto, costo de AWS y estado de make check.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Un primer paso para poder anticiparlos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9D6E0"/>
                </a:solidFill>
                <a:latin typeface="Calibri"/>
              </a:rPr>
              <a:t>22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39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Funciona mejor que la regla física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21408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Con datos del día completo, M2 iguala su detección (30/42) con 86 % menos alertas.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Se sostuvo en la prueba ciega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10128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En 2025 detectó los 2 eventos con 64 alertas, sin reajustar nada.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C2633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6908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Entrega candidatos explicados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98848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6E0"/>
                </a:solidFill>
                <a:latin typeface="Calibri"/>
              </a:rPr>
              <a:t>285 alertas en abril–julio de 2026, cada una con las tres variables que más contribuyen.</a:t>
            </a:r>
          </a:p>
        </p:txBody>
      </p:sp>
      <p:pic>
        <p:nvPicPr>
          <p:cNvPr id="14" name="Picture 13" descr="fig1_catalog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00200"/>
            <a:ext cx="4030980" cy="4206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F2A541"/>
                </a:solidFill>
                <a:latin typeface="Calibri"/>
              </a:rPr>
              <a:t>Próximo paso: buscar en el archivo histórico los eventos que faltan.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89788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D6E0"/>
                </a:solidFill>
                <a:latin typeface="Calibri"/>
              </a:rPr>
              <a:t>Los 102 eventos del catálogo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